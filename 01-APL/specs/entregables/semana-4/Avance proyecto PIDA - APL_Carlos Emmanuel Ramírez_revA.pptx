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77" r:id="rId4"/>
    <p:sldId id="265" r:id="rId5"/>
    <p:sldId id="266" r:id="rId6"/>
    <p:sldId id="257" r:id="rId7"/>
    <p:sldId id="267" r:id="rId8"/>
    <p:sldId id="263" r:id="rId9"/>
    <p:sldId id="258" r:id="rId10"/>
    <p:sldId id="279" r:id="rId11"/>
    <p:sldId id="268" r:id="rId12"/>
    <p:sldId id="270" r:id="rId13"/>
    <p:sldId id="269" r:id="rId14"/>
    <p:sldId id="259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590"/>
  </p:normalViewPr>
  <p:slideViewPr>
    <p:cSldViewPr snapToGrid="0">
      <p:cViewPr varScale="1">
        <p:scale>
          <a:sx n="156" d="100"/>
          <a:sy n="156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carlosemmanuelramirezcastanon/Library/Mobile%20Documents/com~apple~CloudDocs/Agile%20Project%20Leader/14.%20Proyecto%20PIDA/02.%20Entrega%20etapa%202/Delivery/Seguimiento/2%20Seguimiento_Integracio&#769;n-Aceptacio&#769;n-Log%20impedimentos-Burndown%20char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carlosemmanuelramirezcastanon/Library/Mobile%20Documents/com~apple~CloudDocs/Agile%20Project%20Leader/14.%20Proyecto%20PIDA/02.%20Entrega%20etapa%202/Delivery/Seguimiento/2%20Seguimiento_Integracio&#769;n-Aceptacio&#769;n-Log%20impedimentos-Burndown%20chart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Users/carlosemmanuelramirezcastanon/Library/Mobile%20Documents/com~apple~CloudDocs/Agile%20Project%20Leader/14.%20Proyecto%20PIDA/02.%20Entrega%20etapa%202/Delivery/Seguimiento/2%20Seguimiento_Integracio&#769;n-Aceptacio&#769;n-Log%20impedimentos-Burndown%20chart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/Users/carlosemmanuelramirezcastanon/Library/Mobile%20Documents/com~apple~CloudDocs/Agile%20Project%20Leader/14.%20Proyecto%20PIDA/02.%20Entrega%20etapa%202/Delivery/Seguimiento/1.4%20Bitacora-de-Validac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 Seguimiento_Integración-Aceptación-Log impedimentos-Burndown chart.xlsx]Seguimeinto de Integ &amp; accept!PivotTable8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000"/>
              <a:t>Status integración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6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6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6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7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7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'Seguimeinto de Integ &amp; accept'!$Y$5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3105-E546-9C76-87AD8353D08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3105-E546-9C76-87AD8353D080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3105-E546-9C76-87AD8353D08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'Seguimeinto de Integ &amp; accept'!$X$6:$X$9</c:f>
              <c:strCache>
                <c:ptCount val="3"/>
                <c:pt idx="0">
                  <c:v>Integrado</c:v>
                </c:pt>
                <c:pt idx="1">
                  <c:v>On going</c:v>
                </c:pt>
                <c:pt idx="2">
                  <c:v>pendiente</c:v>
                </c:pt>
              </c:strCache>
            </c:strRef>
          </c:cat>
          <c:val>
            <c:numRef>
              <c:f>'Seguimeinto de Integ &amp; accept'!$Y$6:$Y$9</c:f>
              <c:numCache>
                <c:formatCode>General</c:formatCode>
                <c:ptCount val="3"/>
                <c:pt idx="0">
                  <c:v>12</c:v>
                </c:pt>
                <c:pt idx="1">
                  <c:v>3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05-E546-9C76-87AD8353D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184550333748276"/>
          <c:y val="0.39476936332048934"/>
          <c:w val="0.2632837477400804"/>
          <c:h val="0.347062846058034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 Seguimiento_Integración-Aceptación-Log impedimentos-Burndown chart.xlsx]Seguimeinto de Integ &amp; accept!PivotTable9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000"/>
              <a:t>Status Aceptación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6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'Seguimeinto de Integ &amp; accept'!$AC$2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193-5347-8F73-23B66C33B7BB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193-5347-8F73-23B66C33B7B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'Seguimeinto de Integ &amp; accept'!$AB$3:$AB$5</c:f>
              <c:strCache>
                <c:ptCount val="2"/>
                <c:pt idx="0">
                  <c:v>Aceptado</c:v>
                </c:pt>
                <c:pt idx="1">
                  <c:v>Pendiente</c:v>
                </c:pt>
              </c:strCache>
            </c:strRef>
          </c:cat>
          <c:val>
            <c:numRef>
              <c:f>'Seguimeinto de Integ &amp; accept'!$AC$3:$AC$5</c:f>
              <c:numCache>
                <c:formatCode>General</c:formatCode>
                <c:ptCount val="2"/>
                <c:pt idx="0">
                  <c:v>7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93-5347-8F73-23B66C33B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934263172562162"/>
          <c:y val="0.38166647271880955"/>
          <c:w val="0.27476478306663832"/>
          <c:h val="0.37838094342552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Burndown — Pendientes vs Completados (corte W4)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1"/>
        <c:ser>
          <c:idx val="0"/>
          <c:order val="0"/>
          <c:tx>
            <c:strRef>
              <c:f>'Burndown '!$C$5</c:f>
              <c:strCache>
                <c:ptCount val="1"/>
                <c:pt idx="0">
                  <c:v>Sitios Completados (acum.) 🔶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'Burndown '!$A$6:$A$13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'Burndown '!$C$6:$C$13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903-1E4D-9BFE-0940FCA3BA37}"/>
            </c:ext>
          </c:extLst>
        </c:ser>
        <c:ser>
          <c:idx val="1"/>
          <c:order val="1"/>
          <c:tx>
            <c:strRef>
              <c:f>'Burndown '!$D$5</c:f>
              <c:strCache>
                <c:ptCount val="1"/>
                <c:pt idx="0">
                  <c:v>Sitios Pendientes 🔶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'Burndown '!$A$6:$A$13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'Burndown '!$D$6:$D$13</c:f>
              <c:numCache>
                <c:formatCode>General</c:formatCode>
                <c:ptCount val="8"/>
                <c:pt idx="0">
                  <c:v>23</c:v>
                </c:pt>
                <c:pt idx="1">
                  <c:v>23</c:v>
                </c:pt>
                <c:pt idx="2">
                  <c:v>20</c:v>
                </c:pt>
                <c:pt idx="3">
                  <c:v>16</c:v>
                </c:pt>
                <c:pt idx="4">
                  <c:v>11</c:v>
                </c:pt>
                <c:pt idx="5">
                  <c:v>7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903-1E4D-9BFE-0940FCA3BA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[1.4 Bitacora-de-Validacion y FTR.xlsx]Resumen FTR!PivotTable7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% FTR de sitios </a:t>
            </a:r>
            <a:r>
              <a:rPr lang="en-US" dirty="0" err="1"/>
              <a:t>Aceptados</a:t>
            </a:r>
            <a:r>
              <a:rPr lang="en-US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'Resumen FTR'!$P$3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AC50-9A42-897E-A9363B6145D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AC50-9A42-897E-A9363B6145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'Resumen FTR'!$O$4:$O$6</c:f>
              <c:strCache>
                <c:ptCount val="2"/>
                <c:pt idx="0">
                  <c:v>No</c:v>
                </c:pt>
                <c:pt idx="1">
                  <c:v>Sí</c:v>
                </c:pt>
              </c:strCache>
            </c:strRef>
          </c:cat>
          <c:val>
            <c:numRef>
              <c:f>'Resumen FTR'!$P$4:$P$6</c:f>
              <c:numCache>
                <c:formatCode>General</c:formatCode>
                <c:ptCount val="2"/>
                <c:pt idx="0">
                  <c:v>1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50-9A42-897E-A9363B6145D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15002-C5C7-7146-8045-C4B45BF8372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2EC38-B0BF-2944-A63B-AC481B1F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36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705E-483D-D649-B6CE-C25912F58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D49E6-8B4F-FC10-7E77-1CBC3055A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7B392-A4F1-F3F0-8427-C09AF0D5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6CFED-E018-164B-ADF3-F55CEB5A34E1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F52E-A963-DA9B-528B-0695744B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74846-52B3-E248-DB41-1C1AA295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68AC-3B8C-BA44-FE9D-5986D3D6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FF56-A9BF-FE86-30FD-B10C6FFE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9FFCE-1284-CC70-2883-72C8DD8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0066-B873-E34E-8444-2D017EAE2F55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7B4F7-9DD5-80D3-A9C1-3ED85141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4CBE-BD15-1509-A97E-6BF6475B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8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34C6-2E77-3DD5-69E9-63888C5B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89D96-02E0-E1B4-6C11-3D9B563D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8E45-9246-AB93-167E-6EE2E022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3E1B1-1F27-6A40-847B-4807143BB5B4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D9D97-4D05-5591-09E5-A6F0FFCC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8C9BF-1AE2-AC4B-FA09-87ACD803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1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D9E1-129D-3BB4-1318-F2B6EA0E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9173B-0486-EDFD-6D31-09B7DBF4A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FB127-934A-2DB6-7839-7F64A225F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3DCA9-BCA1-C58A-E3E0-63E2FD6BB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AB1D-53C0-E945-83F5-078DB55BBBEF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EE9FB-B3BD-763D-D9EA-02908E93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B5192-B318-B6AE-68BF-60447E0C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2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4F8E-8080-7A6D-B200-1FF7B10C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9F7A1-7635-2D0A-41EC-6032879A0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0C302-BAC6-D822-09E4-FDF173B4E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BA1CE-B799-47EA-49CF-1C91C145C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FB5A9-13CA-89D3-8586-03DA8341D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A206A-8F55-DC15-8D30-A50F3AD2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4BB0-B874-6B4A-AA4E-73AF77985A01}" type="datetime1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ED6C8-7739-2775-D930-3D99836C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42331-B355-83E0-460F-A2B1E8DD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0380-2F05-DA8D-D954-ECDCEF46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B4BCE-E30B-AF50-78B6-17642DD2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377-AAFE-AD49-8A46-92AFBE3690E7}" type="datetime1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8E461-C095-3F2C-C2FA-3805BF60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4DBEE-D913-F2D2-F2A6-39B2D599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05054-6217-D2FD-F24E-BCB980C4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1767-5226-464D-8A78-A59AEA005A13}" type="datetime1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BC425-9504-2FBF-37D2-653B3618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E4CC9-079C-EEF3-B57A-2D9576A4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F78-0EBE-8CFC-997A-41ACA244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AC09-0A64-6F84-E081-44B13BF6A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41C6-E6E4-F43F-65AA-EE7148831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00703-9F8C-DF27-B510-6E12ED5D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26FF-FEAB-1240-8FC7-BDED6AAB56B4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939B4-E01F-3004-B257-F4D96EE5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7B6AB-09B9-C8E7-DFDB-1D09B1F1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8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5E7A-9C41-B40F-C18A-04DE1065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12A77-14F1-F51A-1735-9D891B952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EAD7B-B40B-DE07-F993-BB2EE0DDA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139FC-82E6-4A50-37F8-8D0B9438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4C9E9-A9E2-E041-BC0E-E54FD4803D48}" type="datetime1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FB033-8EDC-5562-7BD8-9A07D0CD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02036-6B5B-D601-0B4C-71681E64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1E0D-1BA7-2B6E-3A1B-01764DAE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4C1CB-9D8A-5F5D-84BB-A76071697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8007-7491-A38C-58BD-0FCF30AC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997C-DEE9-CE4C-8DBE-B86CEF203E9D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06F86-F8D9-4481-8DE7-AEB3495F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0BC55-D100-6121-6C2C-C8B79603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8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8D285-4DE0-A1AB-C931-797D5A76F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A6885-1D9F-B510-DEE1-F5A4E504E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39BF0-061D-4225-77FF-F7BE8DE8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E874-7318-DC49-BF59-31FDA80DC1DF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A3D7-AD9B-59C1-E5B1-DDEDE7EF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AE6C7-B354-7C46-8CD2-54A2EC04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2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3B602-0035-5A7E-4D23-5974312A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21B4-E89D-DE9D-1CEB-FDA913AB2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E6E53-D22E-9D38-6CF7-C666F8AA2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2F973-70FD-0642-A9B2-A0A2A9274EA9}" type="datetime1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4B37-95D9-9EDB-3717-4F2C28518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PIDA APL | Carlos Emmanuel Ramírez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242D5-05D6-0735-8F0C-52D542068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21B8F-5930-7C48-80D4-8B4C500AC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4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6" name="Picture 5" descr="Blue arrows pointing at a red button">
            <a:extLst>
              <a:ext uri="{FF2B5EF4-FFF2-40B4-BE49-F238E27FC236}">
                <a16:creationId xmlns:a16="http://schemas.microsoft.com/office/drawing/2014/main" id="{B4830046-6E62-6E93-7411-16E74A7E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  <a:gradFill>
            <a:gsLst>
              <a:gs pos="0">
                <a:schemeClr val="tx1"/>
              </a:gs>
              <a:gs pos="64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path path="circle">
              <a:fillToRect l="50000" t="50000" r="50000" b="50000"/>
            </a:path>
          </a:gra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BD546-D002-52D2-9DFE-C7BC08DCD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087" y="481870"/>
            <a:ext cx="8303164" cy="3204134"/>
          </a:xfrm>
        </p:spPr>
        <p:txBody>
          <a:bodyPr anchor="b">
            <a:normAutofit/>
          </a:bodyPr>
          <a:lstStyle/>
          <a:p>
            <a:pPr algn="l"/>
            <a:r>
              <a:rPr lang="es-ES_tradnl" sz="4800" dirty="0">
                <a:solidFill>
                  <a:schemeClr val="bg1"/>
                </a:solidFill>
              </a:rPr>
              <a:t>Certificación – Agile Project Leader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66330-BB40-5C0E-C39B-3BE30A3A2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4297750"/>
            <a:ext cx="10930755" cy="5393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s-ES_tradnl" sz="2000" noProof="0" dirty="0">
                <a:solidFill>
                  <a:schemeClr val="bg1"/>
                </a:solidFill>
              </a:rPr>
              <a:t>Avance de Proyecto Integrador de Dominio Autónomo  - </a:t>
            </a:r>
            <a:r>
              <a:rPr lang="es-ES_tradnl" dirty="0">
                <a:solidFill>
                  <a:schemeClr val="bg1"/>
                </a:solidFill>
              </a:rPr>
              <a:t>Optimización ágil del despliegue de Expansión 							para 23 sitios LTE banda 41</a:t>
            </a:r>
            <a:r>
              <a:rPr lang="es-ES_tradnl" sz="2000" dirty="0">
                <a:solidFill>
                  <a:schemeClr val="bg1"/>
                </a:solidFill>
                <a:effectLst/>
              </a:rPr>
              <a:t> </a:t>
            </a:r>
            <a:endParaRPr lang="es-ES_tradnl" sz="2000" noProof="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3DD93-36C6-C4F8-FE3A-464ACA851FD1}"/>
              </a:ext>
            </a:extLst>
          </p:cNvPr>
          <p:cNvSpPr txBox="1"/>
          <p:nvPr/>
        </p:nvSpPr>
        <p:spPr>
          <a:xfrm>
            <a:off x="8038697" y="5662885"/>
            <a:ext cx="467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bg1"/>
                </a:solidFill>
              </a:rPr>
              <a:t>Carlos Emmanuel Ramírez Castañón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9501C-FA8A-78DA-3047-970D8E34FFA7}"/>
              </a:ext>
            </a:extLst>
          </p:cNvPr>
          <p:cNvSpPr txBox="1"/>
          <p:nvPr/>
        </p:nvSpPr>
        <p:spPr>
          <a:xfrm>
            <a:off x="9550400" y="6096000"/>
            <a:ext cx="238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bg1"/>
                </a:solidFill>
              </a:rPr>
              <a:t>01-Julio-2026</a:t>
            </a:r>
          </a:p>
        </p:txBody>
      </p:sp>
    </p:spTree>
    <p:extLst>
      <p:ext uri="{BB962C8B-B14F-4D97-AF65-F5344CB8AC3E}">
        <p14:creationId xmlns:p14="http://schemas.microsoft.com/office/powerpoint/2010/main" val="286391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377C-9C5B-AB67-6E1A-ED7D62DB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Backlog </a:t>
            </a:r>
            <a:r>
              <a:rPr lang="es-ES_tradnl" noProof="0" dirty="0"/>
              <a:t>priorizado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3A9084-B725-2171-D96E-95FCEF0A2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849358"/>
              </p:ext>
            </p:extLst>
          </p:nvPr>
        </p:nvGraphicFramePr>
        <p:xfrm>
          <a:off x="504713" y="1481498"/>
          <a:ext cx="10515600" cy="3189276"/>
        </p:xfrm>
        <a:graphic>
          <a:graphicData uri="http://schemas.openxmlformats.org/drawingml/2006/table">
            <a:tbl>
              <a:tblPr/>
              <a:tblGrid>
                <a:gridCol w="315919">
                  <a:extLst>
                    <a:ext uri="{9D8B030D-6E8A-4147-A177-3AD203B41FA5}">
                      <a16:colId xmlns:a16="http://schemas.microsoft.com/office/drawing/2014/main" val="142797653"/>
                    </a:ext>
                  </a:extLst>
                </a:gridCol>
                <a:gridCol w="361051">
                  <a:extLst>
                    <a:ext uri="{9D8B030D-6E8A-4147-A177-3AD203B41FA5}">
                      <a16:colId xmlns:a16="http://schemas.microsoft.com/office/drawing/2014/main" val="3735619179"/>
                    </a:ext>
                  </a:extLst>
                </a:gridCol>
                <a:gridCol w="1083152">
                  <a:extLst>
                    <a:ext uri="{9D8B030D-6E8A-4147-A177-3AD203B41FA5}">
                      <a16:colId xmlns:a16="http://schemas.microsoft.com/office/drawing/2014/main" val="823916244"/>
                    </a:ext>
                  </a:extLst>
                </a:gridCol>
                <a:gridCol w="812364">
                  <a:extLst>
                    <a:ext uri="{9D8B030D-6E8A-4147-A177-3AD203B41FA5}">
                      <a16:colId xmlns:a16="http://schemas.microsoft.com/office/drawing/2014/main" val="4237462726"/>
                    </a:ext>
                  </a:extLst>
                </a:gridCol>
                <a:gridCol w="992889">
                  <a:extLst>
                    <a:ext uri="{9D8B030D-6E8A-4147-A177-3AD203B41FA5}">
                      <a16:colId xmlns:a16="http://schemas.microsoft.com/office/drawing/2014/main" val="659866903"/>
                    </a:ext>
                  </a:extLst>
                </a:gridCol>
                <a:gridCol w="631839">
                  <a:extLst>
                    <a:ext uri="{9D8B030D-6E8A-4147-A177-3AD203B41FA5}">
                      <a16:colId xmlns:a16="http://schemas.microsoft.com/office/drawing/2014/main" val="2527780124"/>
                    </a:ext>
                  </a:extLst>
                </a:gridCol>
                <a:gridCol w="586707">
                  <a:extLst>
                    <a:ext uri="{9D8B030D-6E8A-4147-A177-3AD203B41FA5}">
                      <a16:colId xmlns:a16="http://schemas.microsoft.com/office/drawing/2014/main" val="159827685"/>
                    </a:ext>
                  </a:extLst>
                </a:gridCol>
                <a:gridCol w="586707">
                  <a:extLst>
                    <a:ext uri="{9D8B030D-6E8A-4147-A177-3AD203B41FA5}">
                      <a16:colId xmlns:a16="http://schemas.microsoft.com/office/drawing/2014/main" val="1916331156"/>
                    </a:ext>
                  </a:extLst>
                </a:gridCol>
                <a:gridCol w="812364">
                  <a:extLst>
                    <a:ext uri="{9D8B030D-6E8A-4147-A177-3AD203B41FA5}">
                      <a16:colId xmlns:a16="http://schemas.microsoft.com/office/drawing/2014/main" val="3795458092"/>
                    </a:ext>
                  </a:extLst>
                </a:gridCol>
                <a:gridCol w="812364">
                  <a:extLst>
                    <a:ext uri="{9D8B030D-6E8A-4147-A177-3AD203B41FA5}">
                      <a16:colId xmlns:a16="http://schemas.microsoft.com/office/drawing/2014/main" val="3391781949"/>
                    </a:ext>
                  </a:extLst>
                </a:gridCol>
                <a:gridCol w="812364">
                  <a:extLst>
                    <a:ext uri="{9D8B030D-6E8A-4147-A177-3AD203B41FA5}">
                      <a16:colId xmlns:a16="http://schemas.microsoft.com/office/drawing/2014/main" val="310670090"/>
                    </a:ext>
                  </a:extLst>
                </a:gridCol>
                <a:gridCol w="812364">
                  <a:extLst>
                    <a:ext uri="{9D8B030D-6E8A-4147-A177-3AD203B41FA5}">
                      <a16:colId xmlns:a16="http://schemas.microsoft.com/office/drawing/2014/main" val="3250301566"/>
                    </a:ext>
                  </a:extLst>
                </a:gridCol>
                <a:gridCol w="1895516">
                  <a:extLst>
                    <a:ext uri="{9D8B030D-6E8A-4147-A177-3AD203B41FA5}">
                      <a16:colId xmlns:a16="http://schemas.microsoft.com/office/drawing/2014/main" val="1200459279"/>
                    </a:ext>
                  </a:extLst>
                </a:gridCol>
              </a:tblGrid>
              <a:tr h="3159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Orden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Zona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Épica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Prioridad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Semanas planeadas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Integrador sugerido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Optimizador sugerido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Cuadrilla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Estado Kanban inicial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Justificación / Razón de orden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389372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 (San José Centro)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Corredor comercial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 (Senior)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 (Senior)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 (Centro)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Hotspot de oficinas — alta visibilidad, ideal piloto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25743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 (Escazú)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Caso típico urbano denso para validar template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34971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3 (Curridabat)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Tercer sitio del Golden Cluster (cluster de 3)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78942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4 (Heredia)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 (Este)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 típico — primer sitio post-cluster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5574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CR-019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5 (Alajuela)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Segundo suburbano del despliegue masivo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98862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6 (San José Oeste)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Corredor comercial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Zona corporativa — alta demanda comercial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408581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7 (Santa Ana)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 densidad poblacional, saturación 91% (input Marcela)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566913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8 (Sabana)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Densidad media, zona comercial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836231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9 (Tibás)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Zona en crecimiento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957594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10 (Moravia)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Congestión confirmada en horas pico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29469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CR-009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11 (Pavas)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Zona comercial densa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76977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12 (Desamparados)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Densidad 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1285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13 (Goicoechea)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Densidad 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27559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14 (Hatillo)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Acceso fácil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21068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CR-010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15 (San Pedro)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Sandeep (India)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Luis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Restricciones de acceso — requiere coordinación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487505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CR-015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16 (Cartago)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333522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17 (Coronado)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 residencial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1195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18 (Heredia Centro)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Sandeep (India)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Javier (Oeste)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Cobertura  Norte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29441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19 (Alajuela Centro)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Javier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Cobertura  Oeste 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976058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CR-016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20 (Cartago Centro)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 residencial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748850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CR-017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21 (Tres Ríos)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 prioridad — sitio de cierre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793431"/>
                  </a:ext>
                </a:extLst>
              </a:tr>
              <a:tr h="120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CR-020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22 (Aserrí)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Hugo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 prioridad — sitio de cierre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59696"/>
                  </a:ext>
                </a:extLst>
              </a:tr>
              <a:tr h="2256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CR-023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23 (Liberia)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 (pendiente readiness)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Sandeep (India)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Javier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Readiness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—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sujeto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confirmación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Eduardo</a:t>
                      </a:r>
                    </a:p>
                  </a:txBody>
                  <a:tcPr marL="5641" marR="5641" marT="564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41095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E0CAD3-A5FD-1961-29D8-198F2637E52D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2F07D53-376F-E851-A1CF-0F92F436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7E2AE-6987-2958-A9D5-DD4F051F6AC6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Ordenado en base a prioridad de ejecución</a:t>
            </a:r>
          </a:p>
        </p:txBody>
      </p:sp>
    </p:spTree>
    <p:extLst>
      <p:ext uri="{BB962C8B-B14F-4D97-AF65-F5344CB8AC3E}">
        <p14:creationId xmlns:p14="http://schemas.microsoft.com/office/powerpoint/2010/main" val="2099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EB80-4184-4FD3-593C-C0D5C7B6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" dirty="0"/>
              <a:t>Definition of Done y Acuerdo de Equipo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5D89C-D273-3B4B-4F25-91CD5E688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4798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sz="1700" b="1" dirty="0"/>
              <a:t>Definition of Done — 3 niveles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Nivel 1 Técnica: </a:t>
            </a:r>
            <a:r>
              <a:rPr lang="es-ES" sz="1500" dirty="0"/>
              <a:t>integración, HW y KPIs (owner Carlos)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Nivel 2 Operativa: </a:t>
            </a:r>
            <a:r>
              <a:rPr lang="es-ES" sz="1500" dirty="0"/>
              <a:t>documentación y handover (Carlos + Eduardo)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Nivel 3 Cliente: </a:t>
            </a:r>
            <a:r>
              <a:rPr lang="es-ES" sz="1500" dirty="0"/>
              <a:t>sign-off de las 5 áreas de Telemóvil CR (RAN, Planning, Quality, O&amp;M, Aceptación)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FTR = TRUE </a:t>
            </a:r>
            <a:r>
              <a:rPr lang="es-ES" sz="1500" dirty="0"/>
              <a:t>solo si se cumplen los 3 niveles al primer intento → meta ≥90% (baseline 82-88%)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5BCED-395F-0BA4-7157-3EF0A112C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798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sz="1700" b="1" dirty="0"/>
              <a:t>Acuerdo de Equipo — normas clave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Idioma oficial inglés </a:t>
            </a:r>
            <a:r>
              <a:rPr lang="es-ES" sz="1500" dirty="0"/>
              <a:t>en ceremonias síncronas (daily 9:00 AM CR) para incluir a Sandeep (India)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Peers sin jerarquía: </a:t>
            </a:r>
            <a:r>
              <a:rPr lang="es-ES" sz="1500" dirty="0"/>
              <a:t>Carlos (NPM) y Eduardo (Implementation Manager) reportan ambos al CPM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Jira única fuente de verdad: </a:t>
            </a:r>
            <a:r>
              <a:rPr lang="es-ES" sz="1500" dirty="0"/>
              <a:t>blockers explícitos; cero WhatsApp para decisiones operativas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ES" sz="1500" b="1" dirty="0"/>
              <a:t>Reconocimiento semanal: </a:t>
            </a:r>
            <a:r>
              <a:rPr lang="es-ES" sz="1500" dirty="0"/>
              <a:t>a cuadrillas y a integrantes con FTR positivo o cero issues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43846D3-FC0B-1D82-D4A5-1B2CD140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604A5-90EE-0F81-CCB3-B3352E72EBBC}"/>
              </a:ext>
            </a:extLst>
          </p:cNvPr>
          <p:cNvSpPr txBox="1"/>
          <p:nvPr/>
        </p:nvSpPr>
        <p:spPr>
          <a:xfrm>
            <a:off x="0" y="5846544"/>
            <a:ext cx="12192000" cy="64633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Firmado en la Semana 1 (</a:t>
            </a:r>
            <a:r>
              <a:rPr lang="es-ES" dirty="0" err="1">
                <a:solidFill>
                  <a:schemeClr val="bg1"/>
                </a:solidFill>
              </a:rPr>
              <a:t>kickoff</a:t>
            </a:r>
            <a:r>
              <a:rPr lang="es-ES" dirty="0">
                <a:solidFill>
                  <a:schemeClr val="bg1"/>
                </a:solidFill>
              </a:rPr>
              <a:t>) por Ericsson (</a:t>
            </a:r>
            <a:r>
              <a:rPr lang="es-ES" dirty="0" err="1">
                <a:solidFill>
                  <a:schemeClr val="bg1"/>
                </a:solidFill>
              </a:rPr>
              <a:t>Latam</a:t>
            </a:r>
            <a:r>
              <a:rPr lang="es-ES" dirty="0">
                <a:solidFill>
                  <a:schemeClr val="bg1"/>
                </a:solidFill>
              </a:rPr>
              <a:t> + India) y </a:t>
            </a:r>
            <a:r>
              <a:rPr lang="es-ES" dirty="0" err="1">
                <a:solidFill>
                  <a:schemeClr val="bg1"/>
                </a:solidFill>
              </a:rPr>
              <a:t>Telemóvil</a:t>
            </a:r>
            <a:r>
              <a:rPr lang="es-ES" dirty="0">
                <a:solidFill>
                  <a:schemeClr val="bg1"/>
                </a:solidFill>
              </a:rPr>
              <a:t> Costa Rica; revisado en cada retrospectiva.</a:t>
            </a:r>
          </a:p>
          <a:p>
            <a:endParaRPr lang="es-ES_tradnl" noProof="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D970B8-9608-C7D4-EEBF-F4C5FC0E973F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90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85C5-F98D-E6CA-5214-53A3FDC0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 err="1"/>
              <a:t>Compromiso</a:t>
            </a:r>
            <a:r>
              <a:rPr lang="en-US" dirty="0"/>
              <a:t> de Stakeholders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F273DC0-A8C6-359A-2003-F11E69937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6534169"/>
              </p:ext>
            </p:extLst>
          </p:nvPr>
        </p:nvGraphicFramePr>
        <p:xfrm>
          <a:off x="228653" y="1421661"/>
          <a:ext cx="9285408" cy="4351341"/>
        </p:xfrm>
        <a:graphic>
          <a:graphicData uri="http://schemas.openxmlformats.org/drawingml/2006/table">
            <a:tbl>
              <a:tblPr/>
              <a:tblGrid>
                <a:gridCol w="1900624">
                  <a:extLst>
                    <a:ext uri="{9D8B030D-6E8A-4147-A177-3AD203B41FA5}">
                      <a16:colId xmlns:a16="http://schemas.microsoft.com/office/drawing/2014/main" val="1840610632"/>
                    </a:ext>
                  </a:extLst>
                </a:gridCol>
                <a:gridCol w="522508">
                  <a:extLst>
                    <a:ext uri="{9D8B030D-6E8A-4147-A177-3AD203B41FA5}">
                      <a16:colId xmlns:a16="http://schemas.microsoft.com/office/drawing/2014/main" val="1696028013"/>
                    </a:ext>
                  </a:extLst>
                </a:gridCol>
                <a:gridCol w="522508">
                  <a:extLst>
                    <a:ext uri="{9D8B030D-6E8A-4147-A177-3AD203B41FA5}">
                      <a16:colId xmlns:a16="http://schemas.microsoft.com/office/drawing/2014/main" val="3940288988"/>
                    </a:ext>
                  </a:extLst>
                </a:gridCol>
                <a:gridCol w="1314979">
                  <a:extLst>
                    <a:ext uri="{9D8B030D-6E8A-4147-A177-3AD203B41FA5}">
                      <a16:colId xmlns:a16="http://schemas.microsoft.com/office/drawing/2014/main" val="2487194123"/>
                    </a:ext>
                  </a:extLst>
                </a:gridCol>
                <a:gridCol w="2595125">
                  <a:extLst>
                    <a:ext uri="{9D8B030D-6E8A-4147-A177-3AD203B41FA5}">
                      <a16:colId xmlns:a16="http://schemas.microsoft.com/office/drawing/2014/main" val="3889742927"/>
                    </a:ext>
                  </a:extLst>
                </a:gridCol>
                <a:gridCol w="2429664">
                  <a:extLst>
                    <a:ext uri="{9D8B030D-6E8A-4147-A177-3AD203B41FA5}">
                      <a16:colId xmlns:a16="http://schemas.microsoft.com/office/drawing/2014/main" val="3699198743"/>
                    </a:ext>
                  </a:extLst>
                </a:gridCol>
              </a:tblGrid>
              <a:tr h="252605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5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 Internos</a:t>
                      </a: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357"/>
                  </a:ext>
                </a:extLst>
              </a:tr>
              <a:tr h="139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Stakeholder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Influencia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Interés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Estrategia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Acciones Requeridas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Preocupaciones clave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35296"/>
                  </a:ext>
                </a:extLst>
              </a:tr>
              <a:tr h="1567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Project Manager (CPM)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Reportes diarios; daily Kanban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Cumplimiento, márgenes, riesgos comerciales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674385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NPM (Carlos)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 del Kanban y métricas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FTR, validación de KPIs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34723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Engineers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Informado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Daily; co-creación de DoD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Disponibilidad HW, ventanas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5317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Implementation Manager (Eduardo)</a:t>
                      </a: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Coordinación con cuadrillas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Permisos, energía, acceso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699820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Optimization Engineers </a:t>
                      </a: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Informado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+ retros; mentoría Patricia → Marco</a:t>
                      </a: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Calidad de KPIs de optimización</a:t>
                      </a: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179242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Success Manager (CSM)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semanal; gestión de expectativas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Telemóvil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Costa Rica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Relación comercial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35575"/>
                  </a:ext>
                </a:extLst>
              </a:tr>
              <a:tr h="2961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Managed Services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informado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Notificación post-aceptación por sitio; seguimiento de monitoreo continuo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Continuidad operativa post-integración; visibilidad de incidencias</a:t>
                      </a: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68878"/>
                  </a:ext>
                </a:extLst>
              </a:tr>
              <a:tr h="1567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PMO Ericsson regional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Reporte semanal de KPIs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Visibilidad de portafolio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210891"/>
                  </a:ext>
                </a:extLst>
              </a:tr>
              <a:tr h="261315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5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Stakeholders Exernos</a:t>
                      </a: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55336"/>
                  </a:ext>
                </a:extLst>
              </a:tr>
              <a:tr h="1567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Stakeholder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Influencia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Interés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Estrategia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Acciones Requeridas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Preocupaciones clave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635879"/>
                  </a:ext>
                </a:extLst>
              </a:tr>
              <a:tr h="3048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Roberto — RAN Engineering Telemóvil Costa Rica</a:t>
                      </a: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Validación técnica semanal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Calidad de configuración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637164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NOC Telemóvil Costa Rica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Notificación pre/post integración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Estabilidad durante ventanas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184959"/>
                  </a:ext>
                </a:extLst>
              </a:tr>
              <a:tr h="2961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Acceptance Team Telemóvil Costa Rica (Ricardo Mendoza)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Sesión formal semanal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Cumplimiento contractual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521115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Quality Telemóvil Costa Rica (Patricia)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Co-construcción DoD; retros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Calidad sostenida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565900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Planning Telemóvil Costa Rica (Marcela)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 re-priorización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Cobertura zonas críticas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72891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O&amp;M Telemóvil Costa Rica (Fernando)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Handover post-aceptación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pendientes en handover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40961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Gerencia / Sponsors Telemóvil Costa Rica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Reporte ejecutivo bi-semanal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ROI, riesgos altos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727293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Cuadrillas de campo subcontratadas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de coordinación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Logística, materiales, seguridad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200387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Tower companies Costa Rica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Gestionar de cerca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Coordinación de accesos vía CPM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Ventanas, peso estructural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010409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Operador eléctrico (ICE / CNFL)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Solicitudes vía Implementation Team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Tiempos de conexión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08410"/>
                  </a:ext>
                </a:extLst>
              </a:tr>
              <a:tr h="1480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SUTEL (regulador costarricense)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satisfecho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Cumplimiento normativo por Telemóvil Costa Rica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Cumplimiento licencia B41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43130"/>
                  </a:ext>
                </a:extLst>
              </a:tr>
              <a:tr h="2573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Suscriptores móviles (usuario final)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Informado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Comunicar mejoras en el servicio para elevar la satisfacción del cliente.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Tener mejor velocidad, servicio y cobertura.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33" marR="6533" marT="65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720625"/>
                  </a:ext>
                </a:extLst>
              </a:tr>
            </a:tbl>
          </a:graphicData>
        </a:graphic>
      </p:graphicFrame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9F27376-0EB8-413D-1365-1C29911CDCB7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364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PIDA APL | Carlos Emmanuel Ramírez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D02865-2E5C-8934-4A02-95923E1472BB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3952BC-FFEF-9410-51CD-72DC7A114DDE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 Compromiso de </a:t>
            </a:r>
            <a:r>
              <a:rPr lang="es-ES_tradnl" noProof="0" dirty="0" err="1">
                <a:solidFill>
                  <a:schemeClr val="bg1"/>
                </a:solidFill>
              </a:rPr>
              <a:t>Stakeholders</a:t>
            </a:r>
            <a:r>
              <a:rPr lang="es-ES_tradnl" noProof="0" dirty="0">
                <a:solidFill>
                  <a:schemeClr val="bg1"/>
                </a:solidFill>
              </a:rPr>
              <a:t> Internos y externos con evaluación y estrategia de gestión de cada uno.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A2D4B5-EBE8-8A75-BDB0-C81DBB19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084" y="3888474"/>
            <a:ext cx="2470284" cy="188426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901302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C6ED-85F3-A306-4B65-E7DD669D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697"/>
            <a:ext cx="10515600" cy="1325563"/>
          </a:xfrm>
        </p:spPr>
        <p:txBody>
          <a:bodyPr/>
          <a:lstStyle/>
          <a:p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Compromiso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Stakeholders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8F82F3-E981-A7DB-8801-9B0C109EC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120733"/>
              </p:ext>
            </p:extLst>
          </p:nvPr>
        </p:nvGraphicFramePr>
        <p:xfrm>
          <a:off x="1482269" y="1213824"/>
          <a:ext cx="9227462" cy="4430351"/>
        </p:xfrm>
        <a:graphic>
          <a:graphicData uri="http://schemas.openxmlformats.org/drawingml/2006/table">
            <a:tbl>
              <a:tblPr/>
              <a:tblGrid>
                <a:gridCol w="218660">
                  <a:extLst>
                    <a:ext uri="{9D8B030D-6E8A-4147-A177-3AD203B41FA5}">
                      <a16:colId xmlns:a16="http://schemas.microsoft.com/office/drawing/2014/main" val="3110755589"/>
                    </a:ext>
                  </a:extLst>
                </a:gridCol>
                <a:gridCol w="1486889">
                  <a:extLst>
                    <a:ext uri="{9D8B030D-6E8A-4147-A177-3AD203B41FA5}">
                      <a16:colId xmlns:a16="http://schemas.microsoft.com/office/drawing/2014/main" val="900699887"/>
                    </a:ext>
                  </a:extLst>
                </a:gridCol>
                <a:gridCol w="699713">
                  <a:extLst>
                    <a:ext uri="{9D8B030D-6E8A-4147-A177-3AD203B41FA5}">
                      <a16:colId xmlns:a16="http://schemas.microsoft.com/office/drawing/2014/main" val="892043010"/>
                    </a:ext>
                  </a:extLst>
                </a:gridCol>
                <a:gridCol w="787177">
                  <a:extLst>
                    <a:ext uri="{9D8B030D-6E8A-4147-A177-3AD203B41FA5}">
                      <a16:colId xmlns:a16="http://schemas.microsoft.com/office/drawing/2014/main" val="2714816348"/>
                    </a:ext>
                  </a:extLst>
                </a:gridCol>
                <a:gridCol w="787177">
                  <a:extLst>
                    <a:ext uri="{9D8B030D-6E8A-4147-A177-3AD203B41FA5}">
                      <a16:colId xmlns:a16="http://schemas.microsoft.com/office/drawing/2014/main" val="559650438"/>
                    </a:ext>
                  </a:extLst>
                </a:gridCol>
                <a:gridCol w="349856">
                  <a:extLst>
                    <a:ext uri="{9D8B030D-6E8A-4147-A177-3AD203B41FA5}">
                      <a16:colId xmlns:a16="http://schemas.microsoft.com/office/drawing/2014/main" val="4253415854"/>
                    </a:ext>
                  </a:extLst>
                </a:gridCol>
                <a:gridCol w="2099138">
                  <a:extLst>
                    <a:ext uri="{9D8B030D-6E8A-4147-A177-3AD203B41FA5}">
                      <a16:colId xmlns:a16="http://schemas.microsoft.com/office/drawing/2014/main" val="977279607"/>
                    </a:ext>
                  </a:extLst>
                </a:gridCol>
                <a:gridCol w="787177">
                  <a:extLst>
                    <a:ext uri="{9D8B030D-6E8A-4147-A177-3AD203B41FA5}">
                      <a16:colId xmlns:a16="http://schemas.microsoft.com/office/drawing/2014/main" val="1966325985"/>
                    </a:ext>
                  </a:extLst>
                </a:gridCol>
                <a:gridCol w="787177">
                  <a:extLst>
                    <a:ext uri="{9D8B030D-6E8A-4147-A177-3AD203B41FA5}">
                      <a16:colId xmlns:a16="http://schemas.microsoft.com/office/drawing/2014/main" val="2461971366"/>
                    </a:ext>
                  </a:extLst>
                </a:gridCol>
                <a:gridCol w="612249">
                  <a:extLst>
                    <a:ext uri="{9D8B030D-6E8A-4147-A177-3AD203B41FA5}">
                      <a16:colId xmlns:a16="http://schemas.microsoft.com/office/drawing/2014/main" val="2415735091"/>
                    </a:ext>
                  </a:extLst>
                </a:gridCol>
                <a:gridCol w="612249">
                  <a:extLst>
                    <a:ext uri="{9D8B030D-6E8A-4147-A177-3AD203B41FA5}">
                      <a16:colId xmlns:a16="http://schemas.microsoft.com/office/drawing/2014/main" val="3215406325"/>
                    </a:ext>
                  </a:extLst>
                </a:gridCol>
              </a:tblGrid>
              <a:tr h="3061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Stakeholder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Categoría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Compromiso ACTUAL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Compromiso DESEADO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Gap (Δ)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Estrategia / Acciones para cerrar el gap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Cadencia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Próxima validación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96158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Project Manager (CPM)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alineación; participa en daily Kanban y reunión semanal de peers.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CSM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476756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 Performance Manager (Carlos)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Auto-evaluación en cada retrospectiva.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CPM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Quincenal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81082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Success Manager (CSM)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 semanal con Carlos para alinear narrativa hacia Telemóvil.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831998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Implementation Manager (Eduardo)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Co-facilitar reunión semanal de peers; co-construir modelo de coordinación.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CPM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515227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Engineers (Diego, Ana, Sandeep, Hugo)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Co-creación de DoD y Acuerdo de Equipo en kickoff. Mentorías.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+ retros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973975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Optimization Engineers (Marco, Sofía, Patricia)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 (junior) con mentoría de Marco.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+ retros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608839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PMO Ericsson regional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Ericsson: Organización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Reporte semanal de KPIs en formato del PMO.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CPM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631303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Managed Services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Interno Ericsson 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Notificación post-aceptación para monitoreo continuo.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sitio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197996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Roberto — RAN Engineering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Canal directo Carlos↔Roberto. Invitar a Retrospectiva del Golden Cluster.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667262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Marcela — Planning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Invitarla a sesión semanal de re-priorización.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71060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Patricia — Quality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Participación desde Golden Cluster. Co-construir DoD de calidad.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320944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Fernando — O&amp;M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Handover formal por sitio. Coordinación con NOC.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sitio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06855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 Mendoza — Acceptance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Sesión semanal de aceptación batch. Bitácora compartida.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55012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NOC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Coordinación pre-ventana. Monitoreo conjunto post-integración.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ventana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182152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Gerencia / Sponsors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Externo: Cliente 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Líder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Reporte ejecutivo bi-semanal.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CSM + Carlos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Bi-semanal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612338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Cuadrillas de campo (Luis, Javier, Ricardo)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 Ericsson: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Inclusión en daily kanban. Reconocimiento semanal.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+ retros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577117"/>
                  </a:ext>
                </a:extLst>
              </a:tr>
              <a:tr h="21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Tower companies CR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 Ericsson: Equipo de Proyecto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Coordinación de accesos vía CPM.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CPM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sitio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2-Jul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progreso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330632"/>
                  </a:ext>
                </a:extLst>
              </a:tr>
              <a:tr h="1093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Operador eléctrico ICE / CNFL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Solicitudes de energía vía Implementation Team.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Eduardo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 sitio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78421"/>
                  </a:ext>
                </a:extLst>
              </a:tr>
              <a:tr h="1093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SUTEL (regulador costarricense)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Cumplimiento de licencia espectral B41 por parte de Telemóvil.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467" marR="5467" marT="5467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Logrado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194957"/>
                  </a:ext>
                </a:extLst>
              </a:tr>
              <a:tr h="1093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Suscriptores móviles (usuario final)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Externo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Neutral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Apoyador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Notificaciones de mantenimiento vía Telemóvil. Beneficio indirecto.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Telemóvil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progreso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67" marR="5467" marT="5467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121558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C1F1E2-29D1-3212-7E1C-52671F71EE09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859083F-6995-2615-156A-C7C07C25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59986-9EE5-2CFD-14BF-A7F26A9661ED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Escala: 1=</a:t>
            </a:r>
            <a:r>
              <a:rPr lang="en-US" dirty="0" err="1">
                <a:solidFill>
                  <a:schemeClr val="bg1"/>
                </a:solidFill>
              </a:rPr>
              <a:t>Desconocedor</a:t>
            </a:r>
            <a:r>
              <a:rPr lang="en-US" dirty="0">
                <a:solidFill>
                  <a:schemeClr val="bg1"/>
                </a:solidFill>
              </a:rPr>
              <a:t> · 2=</a:t>
            </a:r>
            <a:r>
              <a:rPr lang="en-US" dirty="0" err="1">
                <a:solidFill>
                  <a:schemeClr val="bg1"/>
                </a:solidFill>
              </a:rPr>
              <a:t>Resistente</a:t>
            </a:r>
            <a:r>
              <a:rPr lang="en-US" dirty="0">
                <a:solidFill>
                  <a:schemeClr val="bg1"/>
                </a:solidFill>
              </a:rPr>
              <a:t> · 3=Neutral · 4=</a:t>
            </a:r>
            <a:r>
              <a:rPr lang="en-US" dirty="0" err="1">
                <a:solidFill>
                  <a:schemeClr val="bg1"/>
                </a:solidFill>
              </a:rPr>
              <a:t>Apoyador</a:t>
            </a:r>
            <a:r>
              <a:rPr lang="en-US" dirty="0">
                <a:solidFill>
                  <a:schemeClr val="bg1"/>
                </a:solidFill>
              </a:rPr>
              <a:t> · 5=</a:t>
            </a:r>
            <a:r>
              <a:rPr lang="en-US" dirty="0" err="1">
                <a:solidFill>
                  <a:schemeClr val="bg1"/>
                </a:solidFill>
              </a:rPr>
              <a:t>Líder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53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2C06-07BA-4409-C3EF-C6C1936D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err="1"/>
              <a:t>Detalle</a:t>
            </a:r>
            <a:r>
              <a:rPr lang="en-US" dirty="0"/>
              <a:t> de </a:t>
            </a:r>
            <a:r>
              <a:rPr lang="en-US" dirty="0" err="1"/>
              <a:t>avance</a:t>
            </a:r>
            <a:r>
              <a:rPr lang="en-US" dirty="0"/>
              <a:t> de </a:t>
            </a:r>
            <a:r>
              <a:rPr lang="en-US" dirty="0" err="1"/>
              <a:t>integración</a:t>
            </a:r>
            <a:r>
              <a:rPr lang="en-US" dirty="0"/>
              <a:t> y </a:t>
            </a:r>
            <a:r>
              <a:rPr lang="en-US" dirty="0" err="1"/>
              <a:t>aceptación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384E20D-9AB6-51B0-0400-56556DBA4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08074"/>
              </p:ext>
            </p:extLst>
          </p:nvPr>
        </p:nvGraphicFramePr>
        <p:xfrm>
          <a:off x="1000125" y="1043790"/>
          <a:ext cx="10191750" cy="2492483"/>
        </p:xfrm>
        <a:graphic>
          <a:graphicData uri="http://schemas.openxmlformats.org/drawingml/2006/table">
            <a:tbl>
              <a:tblPr/>
              <a:tblGrid>
                <a:gridCol w="271866">
                  <a:extLst>
                    <a:ext uri="{9D8B030D-6E8A-4147-A177-3AD203B41FA5}">
                      <a16:colId xmlns:a16="http://schemas.microsoft.com/office/drawing/2014/main" val="1304759900"/>
                    </a:ext>
                  </a:extLst>
                </a:gridCol>
                <a:gridCol w="310704">
                  <a:extLst>
                    <a:ext uri="{9D8B030D-6E8A-4147-A177-3AD203B41FA5}">
                      <a16:colId xmlns:a16="http://schemas.microsoft.com/office/drawing/2014/main" val="790687126"/>
                    </a:ext>
                  </a:extLst>
                </a:gridCol>
                <a:gridCol w="932112">
                  <a:extLst>
                    <a:ext uri="{9D8B030D-6E8A-4147-A177-3AD203B41FA5}">
                      <a16:colId xmlns:a16="http://schemas.microsoft.com/office/drawing/2014/main" val="2668474263"/>
                    </a:ext>
                  </a:extLst>
                </a:gridCol>
                <a:gridCol w="699084">
                  <a:extLst>
                    <a:ext uri="{9D8B030D-6E8A-4147-A177-3AD203B41FA5}">
                      <a16:colId xmlns:a16="http://schemas.microsoft.com/office/drawing/2014/main" val="600079477"/>
                    </a:ext>
                  </a:extLst>
                </a:gridCol>
                <a:gridCol w="854437">
                  <a:extLst>
                    <a:ext uri="{9D8B030D-6E8A-4147-A177-3AD203B41FA5}">
                      <a16:colId xmlns:a16="http://schemas.microsoft.com/office/drawing/2014/main" val="2065851088"/>
                    </a:ext>
                  </a:extLst>
                </a:gridCol>
                <a:gridCol w="543733">
                  <a:extLst>
                    <a:ext uri="{9D8B030D-6E8A-4147-A177-3AD203B41FA5}">
                      <a16:colId xmlns:a16="http://schemas.microsoft.com/office/drawing/2014/main" val="3112749052"/>
                    </a:ext>
                  </a:extLst>
                </a:gridCol>
                <a:gridCol w="504895">
                  <a:extLst>
                    <a:ext uri="{9D8B030D-6E8A-4147-A177-3AD203B41FA5}">
                      <a16:colId xmlns:a16="http://schemas.microsoft.com/office/drawing/2014/main" val="4285239856"/>
                    </a:ext>
                  </a:extLst>
                </a:gridCol>
                <a:gridCol w="504895">
                  <a:extLst>
                    <a:ext uri="{9D8B030D-6E8A-4147-A177-3AD203B41FA5}">
                      <a16:colId xmlns:a16="http://schemas.microsoft.com/office/drawing/2014/main" val="2684833746"/>
                    </a:ext>
                  </a:extLst>
                </a:gridCol>
                <a:gridCol w="504895">
                  <a:extLst>
                    <a:ext uri="{9D8B030D-6E8A-4147-A177-3AD203B41FA5}">
                      <a16:colId xmlns:a16="http://schemas.microsoft.com/office/drawing/2014/main" val="1872885372"/>
                    </a:ext>
                  </a:extLst>
                </a:gridCol>
                <a:gridCol w="912693">
                  <a:extLst>
                    <a:ext uri="{9D8B030D-6E8A-4147-A177-3AD203B41FA5}">
                      <a16:colId xmlns:a16="http://schemas.microsoft.com/office/drawing/2014/main" val="665073008"/>
                    </a:ext>
                  </a:extLst>
                </a:gridCol>
                <a:gridCol w="873857">
                  <a:extLst>
                    <a:ext uri="{9D8B030D-6E8A-4147-A177-3AD203B41FA5}">
                      <a16:colId xmlns:a16="http://schemas.microsoft.com/office/drawing/2014/main" val="3147362390"/>
                    </a:ext>
                  </a:extLst>
                </a:gridCol>
                <a:gridCol w="582570">
                  <a:extLst>
                    <a:ext uri="{9D8B030D-6E8A-4147-A177-3AD203B41FA5}">
                      <a16:colId xmlns:a16="http://schemas.microsoft.com/office/drawing/2014/main" val="3904759963"/>
                    </a:ext>
                  </a:extLst>
                </a:gridCol>
                <a:gridCol w="737923">
                  <a:extLst>
                    <a:ext uri="{9D8B030D-6E8A-4147-A177-3AD203B41FA5}">
                      <a16:colId xmlns:a16="http://schemas.microsoft.com/office/drawing/2014/main" val="4073041919"/>
                    </a:ext>
                  </a:extLst>
                </a:gridCol>
                <a:gridCol w="640828">
                  <a:extLst>
                    <a:ext uri="{9D8B030D-6E8A-4147-A177-3AD203B41FA5}">
                      <a16:colId xmlns:a16="http://schemas.microsoft.com/office/drawing/2014/main" val="1232800188"/>
                    </a:ext>
                  </a:extLst>
                </a:gridCol>
                <a:gridCol w="472530">
                  <a:extLst>
                    <a:ext uri="{9D8B030D-6E8A-4147-A177-3AD203B41FA5}">
                      <a16:colId xmlns:a16="http://schemas.microsoft.com/office/drawing/2014/main" val="2781900744"/>
                    </a:ext>
                  </a:extLst>
                </a:gridCol>
                <a:gridCol w="422364">
                  <a:extLst>
                    <a:ext uri="{9D8B030D-6E8A-4147-A177-3AD203B41FA5}">
                      <a16:colId xmlns:a16="http://schemas.microsoft.com/office/drawing/2014/main" val="247495615"/>
                    </a:ext>
                  </a:extLst>
                </a:gridCol>
                <a:gridCol w="422364">
                  <a:extLst>
                    <a:ext uri="{9D8B030D-6E8A-4147-A177-3AD203B41FA5}">
                      <a16:colId xmlns:a16="http://schemas.microsoft.com/office/drawing/2014/main" val="1927637010"/>
                    </a:ext>
                  </a:extLst>
                </a:gridCol>
              </a:tblGrid>
              <a:tr h="1926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Orden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Zona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Épica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Prioridad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Semanas planeadas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Fechas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de Plan Integración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de Real Integración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 integración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planeada aceptación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real Aceptación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Semana aceptación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 Aceptación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FTR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010319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 (San José Centro)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Corredor comercial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Wednesday, June 17,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Monday, June 22,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417090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 (Escazú)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11,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Thursday, June 18,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Monday, June 22,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230694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3 (Curridabat)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E1 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10-23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12,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Friday, June 19,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Monday, June 22,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549336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4 (Heredia)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18,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24,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506906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CR-019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5 (Alajuela)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18,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17,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25,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46284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6 (San José Oeste)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Corredor comercial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19,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June 20,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61191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7 (Santa Ana)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17-30 junio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June 20,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June 20,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June 27,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Aceptado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511760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8 (Sabana)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24,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Monday, June 22,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1,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90928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9 (Tibás)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24,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June 23,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486383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10 (Moravia)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25,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June 23,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July 3,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589570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CR-009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11 (Pavas)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June 26,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June 24,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July 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7237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12 (Desamparados)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junio - 06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June 27,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June 25,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Monday, July 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506970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13 (Goicoechea)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1,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8,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784049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14 (Hatillo)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9,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40120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CR-010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15 (San Pedro)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Urbano denso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E2 Despliegue 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July 3,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going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July 10,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91666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16 (Cartago)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01-13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July 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Saturday, July 11,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96099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17 (Coronado)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July 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July 14,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85687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18 (Heredia Centro)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8,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15,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179469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19 (Alajuela Centro)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9,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16,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174078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20 (Cartago Centro)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E3 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07-21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Monday, July 20,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Friday, July 17,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13174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21 (Tres Ríos)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July 14,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Tuesday, July 21,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220388"/>
                  </a:ext>
                </a:extLst>
              </a:tr>
              <a:tr h="963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CR-020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22 (Aserrí)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15,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Wednesday, July 22,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257056"/>
                  </a:ext>
                </a:extLst>
              </a:tr>
              <a:tr h="1806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CR-023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Zona 23 (Liberia)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Suburbano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E4 Sitios de Cierre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 (pendiente readiness)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7-8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14-27 julio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16,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Thursday, July 23, 2026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11" marR="5011" marT="5011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232397"/>
                  </a:ext>
                </a:extLst>
              </a:tr>
            </a:tbl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4163AEF-2541-38B3-5D03-0E6A3450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853E93-27E6-3F5C-A2A6-06CE34B3FEDB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EB70F4C-CB81-C4E1-9A55-6C32401EB0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774066"/>
              </p:ext>
            </p:extLst>
          </p:nvPr>
        </p:nvGraphicFramePr>
        <p:xfrm>
          <a:off x="1000125" y="3650632"/>
          <a:ext cx="4048522" cy="2292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8128148-AEFD-E7D3-B53A-CA26F7C01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915991"/>
              </p:ext>
            </p:extLst>
          </p:nvPr>
        </p:nvGraphicFramePr>
        <p:xfrm>
          <a:off x="7205236" y="3650632"/>
          <a:ext cx="3986639" cy="2286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EC6D49E-4301-3DB1-DDA5-F98C1B1F8E91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Al 30 de Junio se tienen Integrados=12, Pendiente=8, </a:t>
            </a:r>
            <a:r>
              <a:rPr lang="es-ES_tradnl" noProof="0" dirty="0" err="1">
                <a:solidFill>
                  <a:schemeClr val="bg1"/>
                </a:solidFill>
              </a:rPr>
              <a:t>Ongoing</a:t>
            </a:r>
            <a:r>
              <a:rPr lang="es-ES_tradnl" noProof="0" dirty="0">
                <a:solidFill>
                  <a:schemeClr val="bg1"/>
                </a:solidFill>
              </a:rPr>
              <a:t>=3 en total Aceptados=7 y Pendientes de aceptación=5</a:t>
            </a:r>
          </a:p>
        </p:txBody>
      </p:sp>
    </p:spTree>
    <p:extLst>
      <p:ext uri="{BB962C8B-B14F-4D97-AF65-F5344CB8AC3E}">
        <p14:creationId xmlns:p14="http://schemas.microsoft.com/office/powerpoint/2010/main" val="3127262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4525EAA-9D6C-2D1B-6610-17E2D619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3299"/>
            <a:ext cx="10515600" cy="1325563"/>
          </a:xfrm>
        </p:spPr>
        <p:txBody>
          <a:bodyPr/>
          <a:lstStyle/>
          <a:p>
            <a:r>
              <a:rPr lang="en-US" sz="4400" dirty="0"/>
              <a:t>Burndown chart de </a:t>
            </a:r>
            <a:r>
              <a:rPr lang="en-US" sz="4400" dirty="0" err="1"/>
              <a:t>aceptación</a:t>
            </a:r>
            <a:endParaRPr lang="en-US" sz="4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DAD6D3-285F-E660-024B-296A8E0B74BF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33EC62A-0732-CB3D-B7E5-82FB2938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DFC4DEB2-7709-4D4D-A873-B60573825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228074"/>
              </p:ext>
            </p:extLst>
          </p:nvPr>
        </p:nvGraphicFramePr>
        <p:xfrm>
          <a:off x="6735535" y="3200399"/>
          <a:ext cx="4153355" cy="3370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C310B62-C0BB-E575-74F8-C37EFF979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03512"/>
              </p:ext>
            </p:extLst>
          </p:nvPr>
        </p:nvGraphicFramePr>
        <p:xfrm>
          <a:off x="911224" y="1062264"/>
          <a:ext cx="9664701" cy="2057400"/>
        </p:xfrm>
        <a:graphic>
          <a:graphicData uri="http://schemas.openxmlformats.org/drawingml/2006/table">
            <a:tbl>
              <a:tblPr/>
              <a:tblGrid>
                <a:gridCol w="609400">
                  <a:extLst>
                    <a:ext uri="{9D8B030D-6E8A-4147-A177-3AD203B41FA5}">
                      <a16:colId xmlns:a16="http://schemas.microsoft.com/office/drawing/2014/main" val="99688135"/>
                    </a:ext>
                  </a:extLst>
                </a:gridCol>
                <a:gridCol w="1133103">
                  <a:extLst>
                    <a:ext uri="{9D8B030D-6E8A-4147-A177-3AD203B41FA5}">
                      <a16:colId xmlns:a16="http://schemas.microsoft.com/office/drawing/2014/main" val="2604429918"/>
                    </a:ext>
                  </a:extLst>
                </a:gridCol>
                <a:gridCol w="1828199">
                  <a:extLst>
                    <a:ext uri="{9D8B030D-6E8A-4147-A177-3AD203B41FA5}">
                      <a16:colId xmlns:a16="http://schemas.microsoft.com/office/drawing/2014/main" val="1784139616"/>
                    </a:ext>
                  </a:extLst>
                </a:gridCol>
                <a:gridCol w="1371150">
                  <a:extLst>
                    <a:ext uri="{9D8B030D-6E8A-4147-A177-3AD203B41FA5}">
                      <a16:colId xmlns:a16="http://schemas.microsoft.com/office/drawing/2014/main" val="2030416927"/>
                    </a:ext>
                  </a:extLst>
                </a:gridCol>
                <a:gridCol w="1066450">
                  <a:extLst>
                    <a:ext uri="{9D8B030D-6E8A-4147-A177-3AD203B41FA5}">
                      <a16:colId xmlns:a16="http://schemas.microsoft.com/office/drawing/2014/main" val="1804308102"/>
                    </a:ext>
                  </a:extLst>
                </a:gridCol>
                <a:gridCol w="3656399">
                  <a:extLst>
                    <a:ext uri="{9D8B030D-6E8A-4147-A177-3AD203B41FA5}">
                      <a16:colId xmlns:a16="http://schemas.microsoft.com/office/drawing/2014/main" val="17853358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Semana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Rango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Sitios Completados (acum.) 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Sitios Pendientes 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FTR acum. 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2186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3-9 jun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Setup + kickoff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4434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10-16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Golden Cluster se integra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047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17-23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Cluster validado + 1ª Retrospectiva+ Despliegue sitios 3 a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9128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- 30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Despliegue continuo sitios de 7 a 12  (CORTE de avance)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806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01-06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Despliegue sitios del 13 al 16+ 2ª Retro · Entrega de avance (1 jul)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592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07-13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Despliegue sitios del 17 al 20 + Sesión de coaching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1972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14-21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Despliegue sitios del 21 al 23+ 3ª Retrospectiva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569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28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Cierre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ejecución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(23 sitios)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74649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1D29B7E-6BEA-A457-16B3-28F76B7AEEB8}"/>
              </a:ext>
            </a:extLst>
          </p:cNvPr>
          <p:cNvSpPr txBox="1"/>
          <p:nvPr/>
        </p:nvSpPr>
        <p:spPr>
          <a:xfrm>
            <a:off x="0" y="5852271"/>
            <a:ext cx="6425293" cy="64633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Corte W4 (Entrega de Avance): 7/23 sitios (30%) </a:t>
            </a:r>
            <a:r>
              <a:rPr lang="en-US" dirty="0" err="1">
                <a:solidFill>
                  <a:schemeClr val="bg1"/>
                </a:solidFill>
              </a:rPr>
              <a:t>aceptados</a:t>
            </a:r>
            <a:r>
              <a:rPr lang="en-US" dirty="0">
                <a:solidFill>
                  <a:schemeClr val="bg1"/>
                </a:solidFill>
              </a:rPr>
              <a:t>, FTR 96% (</a:t>
            </a:r>
            <a:r>
              <a:rPr lang="en-US" dirty="0" err="1">
                <a:solidFill>
                  <a:schemeClr val="bg1"/>
                </a:solidFill>
              </a:rPr>
              <a:t>sobre</a:t>
            </a:r>
            <a:r>
              <a:rPr lang="en-US" dirty="0">
                <a:solidFill>
                  <a:schemeClr val="bg1"/>
                </a:solidFill>
              </a:rPr>
              <a:t> meta ≥90%).</a:t>
            </a:r>
          </a:p>
        </p:txBody>
      </p:sp>
    </p:spTree>
    <p:extLst>
      <p:ext uri="{BB962C8B-B14F-4D97-AF65-F5344CB8AC3E}">
        <p14:creationId xmlns:p14="http://schemas.microsoft.com/office/powerpoint/2010/main" val="318073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CD8A-1391-9208-81AD-34FDDD7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err="1"/>
              <a:t>Tablero</a:t>
            </a:r>
            <a:r>
              <a:rPr lang="en-US" dirty="0"/>
              <a:t> Kanban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51AB7-D58D-8E29-2FD8-777ECF535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028" y="974497"/>
            <a:ext cx="8840958" cy="4034281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C13177-E9FE-0DDB-5BCE-2A3645E0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2BF2A7-66D5-E6C6-043D-E1CF7035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162" y="3683215"/>
            <a:ext cx="2357810" cy="132556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FB9F1A-9039-7B1B-B6D5-20FFA8741DA7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DF0AAF-D6FB-74A8-5B38-E35B11520BE3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Kaban </a:t>
            </a:r>
            <a:r>
              <a:rPr lang="en-US" dirty="0" err="1">
                <a:solidFill>
                  <a:schemeClr val="bg1"/>
                </a:solidFill>
              </a:rPr>
              <a:t>actualizado</a:t>
            </a:r>
            <a:r>
              <a:rPr lang="en-US" dirty="0">
                <a:solidFill>
                  <a:schemeClr val="bg1"/>
                </a:solidFill>
              </a:rPr>
              <a:t> al 30 de Junio 2026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8B45F43-906A-652D-E90E-6738AA8C0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66657"/>
              </p:ext>
            </p:extLst>
          </p:nvPr>
        </p:nvGraphicFramePr>
        <p:xfrm>
          <a:off x="352028" y="5016256"/>
          <a:ext cx="8018513" cy="1110478"/>
        </p:xfrm>
        <a:graphic>
          <a:graphicData uri="http://schemas.openxmlformats.org/drawingml/2006/table">
            <a:tbl>
              <a:tblPr/>
              <a:tblGrid>
                <a:gridCol w="278421">
                  <a:extLst>
                    <a:ext uri="{9D8B030D-6E8A-4147-A177-3AD203B41FA5}">
                      <a16:colId xmlns:a16="http://schemas.microsoft.com/office/drawing/2014/main" val="170969275"/>
                    </a:ext>
                  </a:extLst>
                </a:gridCol>
                <a:gridCol w="1225051">
                  <a:extLst>
                    <a:ext uri="{9D8B030D-6E8A-4147-A177-3AD203B41FA5}">
                      <a16:colId xmlns:a16="http://schemas.microsoft.com/office/drawing/2014/main" val="1181148836"/>
                    </a:ext>
                  </a:extLst>
                </a:gridCol>
                <a:gridCol w="612525">
                  <a:extLst>
                    <a:ext uri="{9D8B030D-6E8A-4147-A177-3AD203B41FA5}">
                      <a16:colId xmlns:a16="http://schemas.microsoft.com/office/drawing/2014/main" val="2501801024"/>
                    </a:ext>
                  </a:extLst>
                </a:gridCol>
                <a:gridCol w="1670524">
                  <a:extLst>
                    <a:ext uri="{9D8B030D-6E8A-4147-A177-3AD203B41FA5}">
                      <a16:colId xmlns:a16="http://schemas.microsoft.com/office/drawing/2014/main" val="139907553"/>
                    </a:ext>
                  </a:extLst>
                </a:gridCol>
                <a:gridCol w="2115996">
                  <a:extLst>
                    <a:ext uri="{9D8B030D-6E8A-4147-A177-3AD203B41FA5}">
                      <a16:colId xmlns:a16="http://schemas.microsoft.com/office/drawing/2014/main" val="3931785113"/>
                    </a:ext>
                  </a:extLst>
                </a:gridCol>
                <a:gridCol w="2115996">
                  <a:extLst>
                    <a:ext uri="{9D8B030D-6E8A-4147-A177-3AD203B41FA5}">
                      <a16:colId xmlns:a16="http://schemas.microsoft.com/office/drawing/2014/main" val="3133637155"/>
                    </a:ext>
                  </a:extLst>
                </a:gridCol>
              </a:tblGrid>
              <a:tr h="151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Columna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WIP Limit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Criterio de entrada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Criterio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de salida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4309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Backlog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prioriza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Sitio asignado por Telemóvil al proyecto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 de site readiness en curso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777386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Listo para Ventana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+ Eduardo (peers)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DoR completa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Día de ventana inicia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796975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Integración ⚡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Integrador remoto + Cuadrilla local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Ventana activa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aplicado OK + HW validado OK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18789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Optimización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Optimizador remoto asignado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Integración técnica OK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KPIs dentro de umbral, validados 24-48h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921418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Listo para Aceptación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(validación final)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Optimización completa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SAD listo, presentable a Telemóvil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69803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Aceptación Telemóvil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Ricardo Mendoza (Telemóvil)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SAD entregado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Sign-off formal Telemóvil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34994"/>
                  </a:ext>
                </a:extLst>
              </a:tr>
              <a:tr h="137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Sign-off completo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499" marR="7499" marT="7499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57190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150952E-1421-B72F-22B6-323D0D2288D6}"/>
              </a:ext>
            </a:extLst>
          </p:cNvPr>
          <p:cNvSpPr txBox="1"/>
          <p:nvPr/>
        </p:nvSpPr>
        <p:spPr>
          <a:xfrm>
            <a:off x="9633711" y="5943600"/>
            <a:ext cx="20547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SAD = Site Acceptance Document </a:t>
            </a:r>
          </a:p>
        </p:txBody>
      </p:sp>
    </p:spTree>
    <p:extLst>
      <p:ext uri="{BB962C8B-B14F-4D97-AF65-F5344CB8AC3E}">
        <p14:creationId xmlns:p14="http://schemas.microsoft.com/office/powerpoint/2010/main" val="161359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9A0B-CC74-95A9-5DB9-828CF0BC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764736" cy="1325563"/>
          </a:xfrm>
        </p:spPr>
        <p:txBody>
          <a:bodyPr/>
          <a:lstStyle/>
          <a:p>
            <a:r>
              <a:rPr lang="en-US" dirty="0"/>
              <a:t>Log de </a:t>
            </a:r>
            <a:r>
              <a:rPr lang="en-US" dirty="0" err="1"/>
              <a:t>impedimentos</a:t>
            </a:r>
            <a:r>
              <a:rPr lang="en-US" dirty="0"/>
              <a:t> y </a:t>
            </a:r>
            <a:r>
              <a:rPr lang="en-US" dirty="0" err="1"/>
              <a:t>bloqueos</a:t>
            </a:r>
            <a:r>
              <a:rPr lang="en-US" dirty="0"/>
              <a:t> – </a:t>
            </a:r>
            <a:r>
              <a:rPr lang="en-US" dirty="0" err="1"/>
              <a:t>acumulado</a:t>
            </a:r>
            <a:r>
              <a:rPr lang="en-US" dirty="0"/>
              <a:t> w4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FFFAD6F-32CD-9D27-75FB-E982E0745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972555"/>
              </p:ext>
            </p:extLst>
          </p:nvPr>
        </p:nvGraphicFramePr>
        <p:xfrm>
          <a:off x="838200" y="2239963"/>
          <a:ext cx="10515599" cy="1447994"/>
        </p:xfrm>
        <a:graphic>
          <a:graphicData uri="http://schemas.openxmlformats.org/drawingml/2006/table">
            <a:tbl>
              <a:tblPr/>
              <a:tblGrid>
                <a:gridCol w="370594">
                  <a:extLst>
                    <a:ext uri="{9D8B030D-6E8A-4147-A177-3AD203B41FA5}">
                      <a16:colId xmlns:a16="http://schemas.microsoft.com/office/drawing/2014/main" val="1347417780"/>
                    </a:ext>
                  </a:extLst>
                </a:gridCol>
                <a:gridCol w="714717">
                  <a:extLst>
                    <a:ext uri="{9D8B030D-6E8A-4147-A177-3AD203B41FA5}">
                      <a16:colId xmlns:a16="http://schemas.microsoft.com/office/drawing/2014/main" val="2253304054"/>
                    </a:ext>
                  </a:extLst>
                </a:gridCol>
                <a:gridCol w="352946">
                  <a:extLst>
                    <a:ext uri="{9D8B030D-6E8A-4147-A177-3AD203B41FA5}">
                      <a16:colId xmlns:a16="http://schemas.microsoft.com/office/drawing/2014/main" val="1368000063"/>
                    </a:ext>
                  </a:extLst>
                </a:gridCol>
                <a:gridCol w="1958853">
                  <a:extLst>
                    <a:ext uri="{9D8B030D-6E8A-4147-A177-3AD203B41FA5}">
                      <a16:colId xmlns:a16="http://schemas.microsoft.com/office/drawing/2014/main" val="426996336"/>
                    </a:ext>
                  </a:extLst>
                </a:gridCol>
                <a:gridCol w="469860">
                  <a:extLst>
                    <a:ext uri="{9D8B030D-6E8A-4147-A177-3AD203B41FA5}">
                      <a16:colId xmlns:a16="http://schemas.microsoft.com/office/drawing/2014/main" val="3477734105"/>
                    </a:ext>
                  </a:extLst>
                </a:gridCol>
                <a:gridCol w="555890">
                  <a:extLst>
                    <a:ext uri="{9D8B030D-6E8A-4147-A177-3AD203B41FA5}">
                      <a16:colId xmlns:a16="http://schemas.microsoft.com/office/drawing/2014/main" val="3572978543"/>
                    </a:ext>
                  </a:extLst>
                </a:gridCol>
                <a:gridCol w="1597083">
                  <a:extLst>
                    <a:ext uri="{9D8B030D-6E8A-4147-A177-3AD203B41FA5}">
                      <a16:colId xmlns:a16="http://schemas.microsoft.com/office/drawing/2014/main" val="4091652679"/>
                    </a:ext>
                  </a:extLst>
                </a:gridCol>
                <a:gridCol w="734570">
                  <a:extLst>
                    <a:ext uri="{9D8B030D-6E8A-4147-A177-3AD203B41FA5}">
                      <a16:colId xmlns:a16="http://schemas.microsoft.com/office/drawing/2014/main" val="724401420"/>
                    </a:ext>
                  </a:extLst>
                </a:gridCol>
                <a:gridCol w="379417">
                  <a:extLst>
                    <a:ext uri="{9D8B030D-6E8A-4147-A177-3AD203B41FA5}">
                      <a16:colId xmlns:a16="http://schemas.microsoft.com/office/drawing/2014/main" val="2434143450"/>
                    </a:ext>
                  </a:extLst>
                </a:gridCol>
                <a:gridCol w="655157">
                  <a:extLst>
                    <a:ext uri="{9D8B030D-6E8A-4147-A177-3AD203B41FA5}">
                      <a16:colId xmlns:a16="http://schemas.microsoft.com/office/drawing/2014/main" val="4140544705"/>
                    </a:ext>
                  </a:extLst>
                </a:gridCol>
                <a:gridCol w="714717">
                  <a:extLst>
                    <a:ext uri="{9D8B030D-6E8A-4147-A177-3AD203B41FA5}">
                      <a16:colId xmlns:a16="http://schemas.microsoft.com/office/drawing/2014/main" val="3969542706"/>
                    </a:ext>
                  </a:extLst>
                </a:gridCol>
                <a:gridCol w="2011795">
                  <a:extLst>
                    <a:ext uri="{9D8B030D-6E8A-4147-A177-3AD203B41FA5}">
                      <a16:colId xmlns:a16="http://schemas.microsoft.com/office/drawing/2014/main" val="1426934187"/>
                    </a:ext>
                  </a:extLst>
                </a:gridCol>
              </a:tblGrid>
              <a:tr h="3708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detección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Sitio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Severidad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Acciones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resolución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Tiempo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FTR impactado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Aprendizaje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069143"/>
                  </a:ext>
                </a:extLst>
              </a:tr>
              <a:tr h="2648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IMP-01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11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CR-001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 menor de template B41 (esperado en cluster). R-TEC-01.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+ Diego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 vía ENM; validado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11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~4h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Template v2 (acción retro #10)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515423"/>
                  </a:ext>
                </a:extLst>
              </a:tr>
              <a:tr h="2648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IMP-02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11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CR-001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Bajo Throughput luego de implementación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+ Diego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 de configuraciones y features, analisis de tráfico.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12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~8h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 de check list the integración.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485372"/>
                  </a:ext>
                </a:extLst>
              </a:tr>
              <a:tr h="14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IMP-03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12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Acoplamiento de Sandeep al daily. R-EQUIPO-01.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inglés; buddy Diego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13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días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en inglés permanente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969705"/>
                  </a:ext>
                </a:extLst>
              </a:tr>
              <a:tr h="14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IMP-04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18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CR-005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Validación KPI más larga (urbano denso). R-TEC-02.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Sofía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Validación extendida 72h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19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~1.5 días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Acción retro #2: validación 72h en densos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42592"/>
                  </a:ext>
                </a:extLst>
              </a:tr>
              <a:tr h="2648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IMP-05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22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CR-014*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CASO DE REFERENCIA: DL throughput 92&lt;100 Mbps por edificio nuevo no reflejado en plan RF. 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Tilt -2°→-4° + reducción 1 dB → 103 Mbps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W4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56h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retro #1: freshness check RF ≤3 meses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752848"/>
                  </a:ext>
                </a:extLst>
              </a:tr>
            </a:tbl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63181B0-653F-5E56-FA87-E89A01CB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B7F43-CBF0-259F-31B8-D8D40B132199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169F6A-E70F-FC50-F475-3819522C124F}"/>
              </a:ext>
            </a:extLst>
          </p:cNvPr>
          <p:cNvSpPr txBox="1"/>
          <p:nvPr/>
        </p:nvSpPr>
        <p:spPr>
          <a:xfrm>
            <a:off x="0" y="5846544"/>
            <a:ext cx="12192000" cy="64633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🔶 </a:t>
            </a:r>
            <a:r>
              <a:rPr lang="en-US" dirty="0" err="1">
                <a:solidFill>
                  <a:schemeClr val="bg1"/>
                </a:solidFill>
              </a:rPr>
              <a:t>Métricas</a:t>
            </a:r>
            <a:r>
              <a:rPr lang="en-US" dirty="0">
                <a:solidFill>
                  <a:schemeClr val="bg1"/>
                </a:solidFill>
              </a:rPr>
              <a:t>: 0 </a:t>
            </a:r>
            <a:r>
              <a:rPr lang="en-US" dirty="0" err="1">
                <a:solidFill>
                  <a:schemeClr val="bg1"/>
                </a:solidFill>
              </a:rPr>
              <a:t>bloqueos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activos</a:t>
            </a:r>
            <a:r>
              <a:rPr lang="en-US" dirty="0">
                <a:solidFill>
                  <a:schemeClr val="bg1"/>
                </a:solidFill>
              </a:rPr>
              <a:t> · 100% </a:t>
            </a:r>
            <a:r>
              <a:rPr lang="en-US" dirty="0" err="1">
                <a:solidFill>
                  <a:schemeClr val="bg1"/>
                </a:solidFill>
              </a:rPr>
              <a:t>resueltos</a:t>
            </a:r>
            <a:r>
              <a:rPr lang="en-US" dirty="0">
                <a:solidFill>
                  <a:schemeClr val="bg1"/>
                </a:solidFill>
              </a:rPr>
              <a:t> &lt;72h · 0 </a:t>
            </a:r>
            <a:r>
              <a:rPr lang="en-US" dirty="0" err="1">
                <a:solidFill>
                  <a:schemeClr val="bg1"/>
                </a:solidFill>
              </a:rPr>
              <a:t>escalaciones</a:t>
            </a:r>
            <a:r>
              <a:rPr lang="en-US" dirty="0">
                <a:solidFill>
                  <a:schemeClr val="bg1"/>
                </a:solidFill>
              </a:rPr>
              <a:t> al CPM. El </a:t>
            </a:r>
            <a:r>
              <a:rPr lang="en-US" dirty="0" err="1">
                <a:solidFill>
                  <a:schemeClr val="bg1"/>
                </a:solidFill>
              </a:rPr>
              <a:t>caso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referencia</a:t>
            </a:r>
            <a:r>
              <a:rPr lang="en-US" dirty="0">
                <a:solidFill>
                  <a:schemeClr val="bg1"/>
                </a:solidFill>
              </a:rPr>
              <a:t> CR-014 </a:t>
            </a:r>
            <a:r>
              <a:rPr lang="en-US" dirty="0" err="1">
                <a:solidFill>
                  <a:schemeClr val="bg1"/>
                </a:solidFill>
              </a:rPr>
              <a:t>ilustra</a:t>
            </a:r>
            <a:r>
              <a:rPr lang="en-US" dirty="0">
                <a:solidFill>
                  <a:schemeClr val="bg1"/>
                </a:solidFill>
              </a:rPr>
              <a:t> el </a:t>
            </a:r>
            <a:r>
              <a:rPr lang="en-US" dirty="0" err="1">
                <a:solidFill>
                  <a:schemeClr val="bg1"/>
                </a:solidFill>
              </a:rPr>
              <a:t>patrón</a:t>
            </a:r>
            <a:r>
              <a:rPr lang="en-US" dirty="0">
                <a:solidFill>
                  <a:schemeClr val="bg1"/>
                </a:solidFill>
              </a:rPr>
              <a:t> de plan RF </a:t>
            </a:r>
            <a:r>
              <a:rPr lang="en-US" dirty="0" err="1">
                <a:solidFill>
                  <a:schemeClr val="bg1"/>
                </a:solidFill>
              </a:rPr>
              <a:t>desactualizado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916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D3FD-D227-A45A-0DA8-3F2054A1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7"/>
            <a:ext cx="10515600" cy="1325563"/>
          </a:xfrm>
        </p:spPr>
        <p:txBody>
          <a:bodyPr/>
          <a:lstStyle/>
          <a:p>
            <a:r>
              <a:rPr lang="es-ES" dirty="0"/>
              <a:t>Registro de Riesgos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5BDC91-897D-9B4A-A352-308BED5D9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135324"/>
              </p:ext>
            </p:extLst>
          </p:nvPr>
        </p:nvGraphicFramePr>
        <p:xfrm>
          <a:off x="762000" y="1752600"/>
          <a:ext cx="10668000" cy="369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160994588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92290126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14672654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97164596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246343033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 / I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Mitigación planificada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60003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R-TEC-01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Ajustes de template B41 no anticipados en diseño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Media /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Golden cluster valida antes de escalar; ajuste vía ENM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Resuelto (CR-001)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23013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R-TEC-02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Validación de KPIs más lenta en zonas urbano densas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Media /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Ventana de validación 72h (retro #2)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Resuelto (CR-005)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863967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R-TEC-03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Plan RF desactualizado no refleja cambios del entorno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Baja / 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Freshness check de RF ≤3 meses en DoR (retro #1)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Resuelto (CR-014)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82703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R-EQUIPO-01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Integrante remoto (India) excluido por idioma/huso horario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Media / 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Inglés oficial; buddy cultural; daily 9:00 AM 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Gestionado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31702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R-LOG-01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HW/ventanas de acceso retrasan a las cuadrillas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Media / 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Coordinación semanal Carlos-Eduardo; confirmación 48h antes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Vigente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73231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BD7E10-27CA-92E7-C092-3FD6F6DCAFE2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A8C49C-B2C9-1A47-DB17-C024776A82F6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Registro de riesgos actualizado y vigente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A4DFB9-6423-3073-C395-EF459BBF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</p:spTree>
    <p:extLst>
      <p:ext uri="{BB962C8B-B14F-4D97-AF65-F5344CB8AC3E}">
        <p14:creationId xmlns:p14="http://schemas.microsoft.com/office/powerpoint/2010/main" val="223145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EC67-617F-BE65-230E-0D536969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First Time Right - FTR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AAD5BF1-3271-29A4-A36C-8C5BB30E8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180102"/>
              </p:ext>
            </p:extLst>
          </p:nvPr>
        </p:nvGraphicFramePr>
        <p:xfrm>
          <a:off x="3336470" y="1568170"/>
          <a:ext cx="5257800" cy="2675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A77664-B485-63AB-78CC-387D63EE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8113-5757-19D0-523E-8FC289FCB994}"/>
              </a:ext>
            </a:extLst>
          </p:cNvPr>
          <p:cNvSpPr txBox="1"/>
          <p:nvPr/>
        </p:nvSpPr>
        <p:spPr>
          <a:xfrm>
            <a:off x="0" y="5846544"/>
            <a:ext cx="12192000" cy="64633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noProof="0" dirty="0">
                <a:solidFill>
                  <a:schemeClr val="bg1"/>
                </a:solidFill>
              </a:rPr>
              <a:t>De los 7 sitios aprobados, se tuvo impacto en el FTR por el primer sitio que tenia </a:t>
            </a:r>
            <a:r>
              <a:rPr lang="es-ES_tradnl" noProof="0" dirty="0" err="1">
                <a:solidFill>
                  <a:schemeClr val="bg1"/>
                </a:solidFill>
              </a:rPr>
              <a:t>throughput</a:t>
            </a:r>
            <a:r>
              <a:rPr lang="es-ES_tradnl" noProof="0" dirty="0">
                <a:solidFill>
                  <a:schemeClr val="bg1"/>
                </a:solidFill>
              </a:rPr>
              <a:t> bajo, por lo que se agrega al </a:t>
            </a:r>
            <a:r>
              <a:rPr lang="es-ES_tradnl" noProof="0" dirty="0" err="1">
                <a:solidFill>
                  <a:schemeClr val="bg1"/>
                </a:solidFill>
              </a:rPr>
              <a:t>check</a:t>
            </a:r>
            <a:r>
              <a:rPr lang="es-ES_tradnl" noProof="0" dirty="0">
                <a:solidFill>
                  <a:schemeClr val="bg1"/>
                </a:solidFill>
              </a:rPr>
              <a:t> </a:t>
            </a:r>
            <a:r>
              <a:rPr lang="es-ES_tradnl" noProof="0" dirty="0" err="1">
                <a:solidFill>
                  <a:schemeClr val="bg1"/>
                </a:solidFill>
              </a:rPr>
              <a:t>list</a:t>
            </a:r>
            <a:r>
              <a:rPr lang="es-ES_tradnl" noProof="0" dirty="0">
                <a:solidFill>
                  <a:schemeClr val="bg1"/>
                </a:solidFill>
              </a:rPr>
              <a:t> de integración dicha validación.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D51508-713E-F058-7AC4-341167BBCE84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94283C6-1418-A827-998F-AE286AA76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52893"/>
              </p:ext>
            </p:extLst>
          </p:nvPr>
        </p:nvGraphicFramePr>
        <p:xfrm>
          <a:off x="838200" y="4716098"/>
          <a:ext cx="10515599" cy="635243"/>
        </p:xfrm>
        <a:graphic>
          <a:graphicData uri="http://schemas.openxmlformats.org/drawingml/2006/table">
            <a:tbl>
              <a:tblPr/>
              <a:tblGrid>
                <a:gridCol w="370594">
                  <a:extLst>
                    <a:ext uri="{9D8B030D-6E8A-4147-A177-3AD203B41FA5}">
                      <a16:colId xmlns:a16="http://schemas.microsoft.com/office/drawing/2014/main" val="2180718130"/>
                    </a:ext>
                  </a:extLst>
                </a:gridCol>
                <a:gridCol w="714717">
                  <a:extLst>
                    <a:ext uri="{9D8B030D-6E8A-4147-A177-3AD203B41FA5}">
                      <a16:colId xmlns:a16="http://schemas.microsoft.com/office/drawing/2014/main" val="3758886322"/>
                    </a:ext>
                  </a:extLst>
                </a:gridCol>
                <a:gridCol w="352946">
                  <a:extLst>
                    <a:ext uri="{9D8B030D-6E8A-4147-A177-3AD203B41FA5}">
                      <a16:colId xmlns:a16="http://schemas.microsoft.com/office/drawing/2014/main" val="868704435"/>
                    </a:ext>
                  </a:extLst>
                </a:gridCol>
                <a:gridCol w="1958853">
                  <a:extLst>
                    <a:ext uri="{9D8B030D-6E8A-4147-A177-3AD203B41FA5}">
                      <a16:colId xmlns:a16="http://schemas.microsoft.com/office/drawing/2014/main" val="994427939"/>
                    </a:ext>
                  </a:extLst>
                </a:gridCol>
                <a:gridCol w="469860">
                  <a:extLst>
                    <a:ext uri="{9D8B030D-6E8A-4147-A177-3AD203B41FA5}">
                      <a16:colId xmlns:a16="http://schemas.microsoft.com/office/drawing/2014/main" val="1526891515"/>
                    </a:ext>
                  </a:extLst>
                </a:gridCol>
                <a:gridCol w="555890">
                  <a:extLst>
                    <a:ext uri="{9D8B030D-6E8A-4147-A177-3AD203B41FA5}">
                      <a16:colId xmlns:a16="http://schemas.microsoft.com/office/drawing/2014/main" val="803436630"/>
                    </a:ext>
                  </a:extLst>
                </a:gridCol>
                <a:gridCol w="1597083">
                  <a:extLst>
                    <a:ext uri="{9D8B030D-6E8A-4147-A177-3AD203B41FA5}">
                      <a16:colId xmlns:a16="http://schemas.microsoft.com/office/drawing/2014/main" val="3830640709"/>
                    </a:ext>
                  </a:extLst>
                </a:gridCol>
                <a:gridCol w="734570">
                  <a:extLst>
                    <a:ext uri="{9D8B030D-6E8A-4147-A177-3AD203B41FA5}">
                      <a16:colId xmlns:a16="http://schemas.microsoft.com/office/drawing/2014/main" val="2194961159"/>
                    </a:ext>
                  </a:extLst>
                </a:gridCol>
                <a:gridCol w="379417">
                  <a:extLst>
                    <a:ext uri="{9D8B030D-6E8A-4147-A177-3AD203B41FA5}">
                      <a16:colId xmlns:a16="http://schemas.microsoft.com/office/drawing/2014/main" val="3809526922"/>
                    </a:ext>
                  </a:extLst>
                </a:gridCol>
                <a:gridCol w="655157">
                  <a:extLst>
                    <a:ext uri="{9D8B030D-6E8A-4147-A177-3AD203B41FA5}">
                      <a16:colId xmlns:a16="http://schemas.microsoft.com/office/drawing/2014/main" val="1831655107"/>
                    </a:ext>
                  </a:extLst>
                </a:gridCol>
                <a:gridCol w="714717">
                  <a:extLst>
                    <a:ext uri="{9D8B030D-6E8A-4147-A177-3AD203B41FA5}">
                      <a16:colId xmlns:a16="http://schemas.microsoft.com/office/drawing/2014/main" val="1775896559"/>
                    </a:ext>
                  </a:extLst>
                </a:gridCol>
                <a:gridCol w="2011795">
                  <a:extLst>
                    <a:ext uri="{9D8B030D-6E8A-4147-A177-3AD203B41FA5}">
                      <a16:colId xmlns:a16="http://schemas.microsoft.com/office/drawing/2014/main" val="652746771"/>
                    </a:ext>
                  </a:extLst>
                </a:gridCol>
              </a:tblGrid>
              <a:tr h="3703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detección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Sitio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Severidad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Acciones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resolución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Tiempo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FTR impactado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Aprendizaje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148162"/>
                  </a:ext>
                </a:extLst>
              </a:tr>
              <a:tr h="2648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IMP-02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11 jun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CR-001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Bajo Throughput luego de implementación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Carlos + Diego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configuraciones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y features,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analisis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tráfico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🔶 12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~8h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Resuelto ✅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check list the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integración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6622" marR="6622" marT="6622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61763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51A976F-5472-FBC7-5BF9-9DBC261C5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55555"/>
              </p:ext>
            </p:extLst>
          </p:nvPr>
        </p:nvGraphicFramePr>
        <p:xfrm>
          <a:off x="671285" y="2148681"/>
          <a:ext cx="1917700" cy="990600"/>
        </p:xfrm>
        <a:graphic>
          <a:graphicData uri="http://schemas.openxmlformats.org/drawingml/2006/table">
            <a:tbl>
              <a:tblPr/>
              <a:tblGrid>
                <a:gridCol w="927100">
                  <a:extLst>
                    <a:ext uri="{9D8B030D-6E8A-4147-A177-3AD203B41FA5}">
                      <a16:colId xmlns:a16="http://schemas.microsoft.com/office/drawing/2014/main" val="298651126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2303511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Estatus de FTR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841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1252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7208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93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7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8D68-2AAE-F5BB-B248-B9EE7F38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FEF4-8490-AAF4-141C-6C368B4C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Re-</a:t>
            </a:r>
            <a:r>
              <a:rPr lang="en-US" dirty="0" err="1"/>
              <a:t>trabajo</a:t>
            </a:r>
            <a:r>
              <a:rPr lang="en-US" dirty="0"/>
              <a:t> Técnico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AFBDE7A-B294-0DC1-194D-350B51AB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50EB1-11FB-4EE5-0CE5-83F833F24C6A}"/>
              </a:ext>
            </a:extLst>
          </p:cNvPr>
          <p:cNvSpPr txBox="1"/>
          <p:nvPr/>
        </p:nvSpPr>
        <p:spPr>
          <a:xfrm>
            <a:off x="0" y="5553631"/>
            <a:ext cx="12192000" cy="92333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noProof="0" dirty="0">
                <a:solidFill>
                  <a:schemeClr val="bg1"/>
                </a:solidFill>
              </a:rPr>
              <a:t>Se ha logrado reducir las horas hasta un 11.9%, en base a prevenir en cada una de las áreas con todo lo necesario para llevar a cabo cada una de las actividades, así como resolver impedimentos técnicos y mejora de los </a:t>
            </a:r>
            <a:r>
              <a:rPr lang="es-ES_tradnl" noProof="0" dirty="0" err="1">
                <a:solidFill>
                  <a:schemeClr val="bg1"/>
                </a:solidFill>
              </a:rPr>
              <a:t>checklist</a:t>
            </a:r>
            <a:r>
              <a:rPr lang="es-ES_tradnl" noProof="0" dirty="0">
                <a:solidFill>
                  <a:schemeClr val="bg1"/>
                </a:solidFill>
              </a:rPr>
              <a:t> de integración.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B31B73-01E0-FEFE-608D-C3BBE44E2F06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26C814C7-6B46-E947-6F81-D65B90A46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236054"/>
              </p:ext>
            </p:extLst>
          </p:nvPr>
        </p:nvGraphicFramePr>
        <p:xfrm>
          <a:off x="617763" y="1570453"/>
          <a:ext cx="10992988" cy="1944281"/>
        </p:xfrm>
        <a:graphic>
          <a:graphicData uri="http://schemas.openxmlformats.org/drawingml/2006/table">
            <a:tbl>
              <a:tblPr/>
              <a:tblGrid>
                <a:gridCol w="1001432">
                  <a:extLst>
                    <a:ext uri="{9D8B030D-6E8A-4147-A177-3AD203B41FA5}">
                      <a16:colId xmlns:a16="http://schemas.microsoft.com/office/drawing/2014/main" val="536899100"/>
                    </a:ext>
                  </a:extLst>
                </a:gridCol>
                <a:gridCol w="1379186">
                  <a:extLst>
                    <a:ext uri="{9D8B030D-6E8A-4147-A177-3AD203B41FA5}">
                      <a16:colId xmlns:a16="http://schemas.microsoft.com/office/drawing/2014/main" val="1411127435"/>
                    </a:ext>
                  </a:extLst>
                </a:gridCol>
                <a:gridCol w="1701210">
                  <a:extLst>
                    <a:ext uri="{9D8B030D-6E8A-4147-A177-3AD203B41FA5}">
                      <a16:colId xmlns:a16="http://schemas.microsoft.com/office/drawing/2014/main" val="2999651431"/>
                    </a:ext>
                  </a:extLst>
                </a:gridCol>
                <a:gridCol w="1169581">
                  <a:extLst>
                    <a:ext uri="{9D8B030D-6E8A-4147-A177-3AD203B41FA5}">
                      <a16:colId xmlns:a16="http://schemas.microsoft.com/office/drawing/2014/main" val="3241463889"/>
                    </a:ext>
                  </a:extLst>
                </a:gridCol>
                <a:gridCol w="1339702">
                  <a:extLst>
                    <a:ext uri="{9D8B030D-6E8A-4147-A177-3AD203B41FA5}">
                      <a16:colId xmlns:a16="http://schemas.microsoft.com/office/drawing/2014/main" val="1875005958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2075831680"/>
                    </a:ext>
                  </a:extLst>
                </a:gridCol>
                <a:gridCol w="3338621">
                  <a:extLst>
                    <a:ext uri="{9D8B030D-6E8A-4147-A177-3AD203B41FA5}">
                      <a16:colId xmlns:a16="http://schemas.microsoft.com/office/drawing/2014/main" val="1938916156"/>
                    </a:ext>
                  </a:extLst>
                </a:gridCol>
              </a:tblGrid>
              <a:tr h="123799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Cumplimiento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meta y baseline de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referencia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(horas reales)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737692"/>
                  </a:ext>
                </a:extLst>
              </a:tr>
              <a:tr h="1165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#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Sitio / Alcance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Horas estimadas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Horas reales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Meta de reducción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Horas evitadas (h)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Fuente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732790"/>
                  </a:ext>
                </a:extLst>
              </a:tr>
              <a:tr h="184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 de Impedimentos, IMP-01 e IMP-02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59612"/>
                  </a:ext>
                </a:extLst>
              </a:tr>
              <a:tr h="2475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 impedimentos técnicos registrados (Bitácora de Validación)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422517"/>
                  </a:ext>
                </a:extLst>
              </a:tr>
              <a:tr h="1237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 de Impedimentos, IMP-04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03038"/>
                  </a:ext>
                </a:extLst>
              </a:tr>
              <a:tr h="1237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 de Impedimentos, IMP-05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29363"/>
                  </a:ext>
                </a:extLst>
              </a:tr>
              <a:tr h="2475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 impedimentos técnicos registrados (Bitácora de Validación)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021123"/>
                  </a:ext>
                </a:extLst>
              </a:tr>
              <a:tr h="2475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 impedimentos técnicos registrados (Bitácora de Validación)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389147"/>
                  </a:ext>
                </a:extLst>
              </a:tr>
              <a:tr h="254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CR-004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 impedimentos técnicos registrados (Bitácora de Validación)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69228"/>
                  </a:ext>
                </a:extLst>
              </a:tr>
              <a:tr h="123799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de horas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336.0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296.0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-11.90%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13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48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2317-C203-E02E-CD9A-C3DF2283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8B84-8FCB-367F-FA70-BF2E594C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err="1"/>
              <a:t>Retrospectivas</a:t>
            </a:r>
            <a:r>
              <a:rPr lang="en-US" dirty="0"/>
              <a:t> – Golden cluster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6F3E146-C407-EC4F-DD46-5831E38B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8E48D6-544B-4A72-482E-C7A4DAA3637A}"/>
              </a:ext>
            </a:extLst>
          </p:cNvPr>
          <p:cNvSpPr txBox="1"/>
          <p:nvPr/>
        </p:nvSpPr>
        <p:spPr>
          <a:xfrm>
            <a:off x="0" y="6207941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Hasta el momento todos los puntos están resueltos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F9312F-7152-9863-35DF-CA370647304F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8DF122AA-77D6-5EB7-D446-B240C8F1C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377823"/>
              </p:ext>
            </p:extLst>
          </p:nvPr>
        </p:nvGraphicFramePr>
        <p:xfrm>
          <a:off x="390975" y="1717448"/>
          <a:ext cx="11410049" cy="2270681"/>
        </p:xfrm>
        <a:graphic>
          <a:graphicData uri="http://schemas.openxmlformats.org/drawingml/2006/table">
            <a:tbl>
              <a:tblPr/>
              <a:tblGrid>
                <a:gridCol w="231321">
                  <a:extLst>
                    <a:ext uri="{9D8B030D-6E8A-4147-A177-3AD203B41FA5}">
                      <a16:colId xmlns:a16="http://schemas.microsoft.com/office/drawing/2014/main" val="1591022932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4116965059"/>
                    </a:ext>
                  </a:extLst>
                </a:gridCol>
                <a:gridCol w="662859">
                  <a:extLst>
                    <a:ext uri="{9D8B030D-6E8A-4147-A177-3AD203B41FA5}">
                      <a16:colId xmlns:a16="http://schemas.microsoft.com/office/drawing/2014/main" val="1799213263"/>
                    </a:ext>
                  </a:extLst>
                </a:gridCol>
                <a:gridCol w="1381514">
                  <a:extLst>
                    <a:ext uri="{9D8B030D-6E8A-4147-A177-3AD203B41FA5}">
                      <a16:colId xmlns:a16="http://schemas.microsoft.com/office/drawing/2014/main" val="498090034"/>
                    </a:ext>
                  </a:extLst>
                </a:gridCol>
                <a:gridCol w="1381514">
                  <a:extLst>
                    <a:ext uri="{9D8B030D-6E8A-4147-A177-3AD203B41FA5}">
                      <a16:colId xmlns:a16="http://schemas.microsoft.com/office/drawing/2014/main" val="2983848395"/>
                    </a:ext>
                  </a:extLst>
                </a:gridCol>
                <a:gridCol w="1381514">
                  <a:extLst>
                    <a:ext uri="{9D8B030D-6E8A-4147-A177-3AD203B41FA5}">
                      <a16:colId xmlns:a16="http://schemas.microsoft.com/office/drawing/2014/main" val="3806575818"/>
                    </a:ext>
                  </a:extLst>
                </a:gridCol>
                <a:gridCol w="880715">
                  <a:extLst>
                    <a:ext uri="{9D8B030D-6E8A-4147-A177-3AD203B41FA5}">
                      <a16:colId xmlns:a16="http://schemas.microsoft.com/office/drawing/2014/main" val="620204730"/>
                    </a:ext>
                  </a:extLst>
                </a:gridCol>
                <a:gridCol w="1381514">
                  <a:extLst>
                    <a:ext uri="{9D8B030D-6E8A-4147-A177-3AD203B41FA5}">
                      <a16:colId xmlns:a16="http://schemas.microsoft.com/office/drawing/2014/main" val="3804447190"/>
                    </a:ext>
                  </a:extLst>
                </a:gridCol>
                <a:gridCol w="506827">
                  <a:extLst>
                    <a:ext uri="{9D8B030D-6E8A-4147-A177-3AD203B41FA5}">
                      <a16:colId xmlns:a16="http://schemas.microsoft.com/office/drawing/2014/main" val="2172092351"/>
                    </a:ext>
                  </a:extLst>
                </a:gridCol>
                <a:gridCol w="587394">
                  <a:extLst>
                    <a:ext uri="{9D8B030D-6E8A-4147-A177-3AD203B41FA5}">
                      <a16:colId xmlns:a16="http://schemas.microsoft.com/office/drawing/2014/main" val="1379046834"/>
                    </a:ext>
                  </a:extLst>
                </a:gridCol>
                <a:gridCol w="1249642">
                  <a:extLst>
                    <a:ext uri="{9D8B030D-6E8A-4147-A177-3AD203B41FA5}">
                      <a16:colId xmlns:a16="http://schemas.microsoft.com/office/drawing/2014/main" val="1852381484"/>
                    </a:ext>
                  </a:extLst>
                </a:gridCol>
                <a:gridCol w="1381514">
                  <a:extLst>
                    <a:ext uri="{9D8B030D-6E8A-4147-A177-3AD203B41FA5}">
                      <a16:colId xmlns:a16="http://schemas.microsoft.com/office/drawing/2014/main" val="2758016122"/>
                    </a:ext>
                  </a:extLst>
                </a:gridCol>
              </a:tblGrid>
              <a:tr h="1005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#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Semana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Fecha de sesión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Participantes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Qué funcionó bien?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Qué no funcionó / Problema?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Impacto (Alto/Medio/Bajo)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Acción de mejora (#)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Responsable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Fecha compromiso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Estado (Pendiente/En curso/Resuelto)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Referencia (Log Impedimentos / Bitácora)</a:t>
                      </a:r>
                    </a:p>
                  </a:txBody>
                  <a:tcPr marL="4343" marR="4343" marT="4343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229392"/>
                  </a:ext>
                </a:extLst>
              </a:tr>
              <a:tr h="32043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(equipo Latam+India)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Golden Cluster (CR-001, CR-003, CR-005) integrado y aceptado a tiempo, FTR 96% (meta ≥90%)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Cerrado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Burndown W3 · Bitácora fila 1.1-1.5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05671"/>
                  </a:ext>
                </a:extLst>
              </a:tr>
              <a:tr h="21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(equipo Latam+India)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Onboarding exitoso de Sandeep (India) al equipo; se acopló al daily sin fricción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Cerrado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IMP-03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42970"/>
                  </a:ext>
                </a:extLst>
              </a:tr>
              <a:tr h="32043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(equipo Latam+India)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Throughput bajo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CR-001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tras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integración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por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configuración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tráfico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incompleta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Reforzar checklist de integración con validación de configuración antes de cierre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+ Diego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Resuelto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IMP-02 · Bitácora CR-001 (Quality)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620316"/>
                  </a:ext>
                </a:extLst>
              </a:tr>
              <a:tr h="32043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(equipo Latam+India)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 RF desactualizado en CR-014 (caso referencia): throughput 92&lt;100 Mbps por edificio nuevo no reflejado en plan RF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Acción retro #1: freshness check de RF ≤3 meses como parte del Definition of Ready (DoR)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Resuelto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IMP-REF (CR-014)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49207"/>
                  </a:ext>
                </a:extLst>
              </a:tr>
              <a:tr h="32043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(equipo Latam+India)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Validación de KPI tomó más tiempo de lo esperado en zonas urbano densas (CR-005)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Baja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Acción retro #2: ampliar ventana de validación a 72h en sitios de zona urbano densa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Sofía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Resuelto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IMP-04 (CR-005)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446203"/>
                  </a:ext>
                </a:extLst>
              </a:tr>
              <a:tr h="21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Carlos, Diego, Sofía, Marco, Sandeep 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equipo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Latam+India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—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 menor de template B41 requerido al integrar el cluster (esperado, R-TEC-01)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Baja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Acción retro #10: estandarizar Template B41 v2 para próximos sitios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+ Diego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11-Jun-2026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Resuelto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IMP-01 (CR-001)</a:t>
                      </a:r>
                    </a:p>
                  </a:txBody>
                  <a:tcPr marL="4343" marR="4343" marT="4343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64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704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0AF8-B49C-260D-B29F-8E80B762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Avance del plan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8056FF9-595B-A0BD-C098-3601BBCCB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087185"/>
              </p:ext>
            </p:extLst>
          </p:nvPr>
        </p:nvGraphicFramePr>
        <p:xfrm>
          <a:off x="1542063" y="1132297"/>
          <a:ext cx="9107873" cy="4366395"/>
        </p:xfrm>
        <a:graphic>
          <a:graphicData uri="http://schemas.openxmlformats.org/drawingml/2006/table">
            <a:tbl>
              <a:tblPr/>
              <a:tblGrid>
                <a:gridCol w="198906">
                  <a:extLst>
                    <a:ext uri="{9D8B030D-6E8A-4147-A177-3AD203B41FA5}">
                      <a16:colId xmlns:a16="http://schemas.microsoft.com/office/drawing/2014/main" val="1136830673"/>
                    </a:ext>
                  </a:extLst>
                </a:gridCol>
                <a:gridCol w="232720">
                  <a:extLst>
                    <a:ext uri="{9D8B030D-6E8A-4147-A177-3AD203B41FA5}">
                      <a16:colId xmlns:a16="http://schemas.microsoft.com/office/drawing/2014/main" val="1319363248"/>
                    </a:ext>
                  </a:extLst>
                </a:gridCol>
                <a:gridCol w="2285432">
                  <a:extLst>
                    <a:ext uri="{9D8B030D-6E8A-4147-A177-3AD203B41FA5}">
                      <a16:colId xmlns:a16="http://schemas.microsoft.com/office/drawing/2014/main" val="250713261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22057284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41684467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01316830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64948557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60445126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03125876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73847915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95766991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33878439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64380126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91858011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17311691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55100212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1367119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5143838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16791940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32241100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80424752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81583533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71252040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424516429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16403689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16537336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72931316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19961138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47072974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420577559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92985498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33188974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87385584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88994217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70587761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61094684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1747657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33668481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89420039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82225117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667289095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51654963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41337710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820331760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65557128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89497696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58571229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66857976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508896420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20578783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65453519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81564249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712744032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55207732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421388863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806539145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83758261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38196931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61537759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11289431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4513536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60736519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17569295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84162638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37907524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5047964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25519412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435946070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40209939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45426578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10658483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29428696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47209117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53595379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35200866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516882396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18521082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745768629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141809972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097954808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228861713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847425451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495725517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99599135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270455872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4037740024"/>
                    </a:ext>
                  </a:extLst>
                </a:gridCol>
                <a:gridCol w="47737">
                  <a:extLst>
                    <a:ext uri="{9D8B030D-6E8A-4147-A177-3AD203B41FA5}">
                      <a16:colId xmlns:a16="http://schemas.microsoft.com/office/drawing/2014/main" val="3720651806"/>
                    </a:ext>
                  </a:extLst>
                </a:gridCol>
                <a:gridCol w="2380907">
                  <a:extLst>
                    <a:ext uri="{9D8B030D-6E8A-4147-A177-3AD203B41FA5}">
                      <a16:colId xmlns:a16="http://schemas.microsoft.com/office/drawing/2014/main" val="1009765527"/>
                    </a:ext>
                  </a:extLst>
                </a:gridCol>
              </a:tblGrid>
              <a:tr h="111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3-Jun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10-Jun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17-Jun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24-Jun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1-Jul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7-Jul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14-Jul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21-Jul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28-Jul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04-Ago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11-Ago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18-Ago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597529"/>
                  </a:ext>
                </a:extLst>
              </a:tr>
              <a:tr h="127383">
                <a:tc gridSpan="8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SEMANAS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098297"/>
                  </a:ext>
                </a:extLst>
              </a:tr>
              <a:tr h="143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#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Actividad 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5971" marR="5971" marT="5971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11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</a:p>
                  </a:txBody>
                  <a:tcPr marL="5971" marR="5971" marT="597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Entregable por actividad 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46468"/>
                  </a:ext>
                </a:extLst>
              </a:tr>
              <a:tr h="1433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Inicio y Configuración del backlog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Backlog priorizado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312809"/>
                  </a:ext>
                </a:extLst>
              </a:tr>
              <a:tr h="453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1.1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Selección y priorización de los 23 con mayor congestión y saturación de tráfico 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Lista de sitios priorizada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514921"/>
                  </a:ext>
                </a:extLst>
              </a:tr>
              <a:tr h="270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1.2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Configuración del  tablero kanban (backlog, integración, quality, done)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Tablero visual configurado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835971"/>
                  </a:ext>
                </a:extLst>
              </a:tr>
              <a:tr h="2706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1.3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Definición de done y acuerdo de equipo (código de comportamientos)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Definition of Done + Documento de acuerdo de equipo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671051"/>
                  </a:ext>
                </a:extLst>
              </a:tr>
              <a:tr h="413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1.4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Identificación y gestión de involucrados (validación de aceptación semanal con el cliente)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Mapa de stakeholders + bitácora de validación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974200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Ejecución ágil de la expansión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03850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2.1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Integración de sitios, golden cluster en W2.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Segumiento de plan de integración de sitios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022915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2.2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Optimización y aceptación de sitios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Seguimiento de aceptación de sitios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802012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2.3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Gestión de riesgos y resolución de bloqueos.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Log de impedimentos resueltos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437260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2.4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Actualización y monitoreo de tablero Kanban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Tablero Kanban actualizado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075466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2.5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Entrega de avance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Entrega de avance,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limite 1 de julio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890128"/>
                  </a:ext>
                </a:extLst>
              </a:tr>
              <a:tr h="1353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2.6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Sesión de coaching del proyecto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Sesión de Coaching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572166"/>
                  </a:ext>
                </a:extLst>
              </a:tr>
              <a:tr h="2786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2.7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Reuniones de seguimiento y actualización de burndown chart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Gráfico de avance diario + bitácora de cambios al plan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71393"/>
                  </a:ext>
                </a:extLst>
              </a:tr>
              <a:tr h="1433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Mejora continua y cierre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824080"/>
                  </a:ext>
                </a:extLst>
              </a:tr>
              <a:tr h="270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3.1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Retrospectivas de proceso y del cluster golden 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Plan de acciones de mejora, derivados de las retrospectivas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209254"/>
                  </a:ext>
                </a:extLst>
              </a:tr>
              <a:tr h="270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3.2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Medición de indicador First time right vs meta del 100%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A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Dashboard final de Resultados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997716"/>
                  </a:ext>
                </a:extLst>
              </a:tr>
              <a:tr h="270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3.3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Documentación de lecciones aprendidas y cierre de PIDA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X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Reporte de cierre, evidencias y generación de Reporte PIDA y 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entrega máximo 11 de agosto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803987"/>
                  </a:ext>
                </a:extLst>
              </a:tr>
              <a:tr h="2352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3.4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Entrega de reporte PIDA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 PIDA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5971" marR="5971" marT="597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Reporte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PIDA</a:t>
                      </a:r>
                    </a:p>
                  </a:txBody>
                  <a:tcPr marL="5971" marR="5971" marT="5971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194646"/>
                  </a:ext>
                </a:extLst>
              </a:tr>
            </a:tbl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BF469A-C9DD-EC3A-F936-9BE7594A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C39B43-43A7-DFBA-3F52-DCD590274BAD}"/>
              </a:ext>
            </a:extLst>
          </p:cNvPr>
          <p:cNvCxnSpPr>
            <a:cxnSpLocks/>
          </p:cNvCxnSpPr>
          <p:nvPr/>
        </p:nvCxnSpPr>
        <p:spPr>
          <a:xfrm>
            <a:off x="123428" y="9144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8CC398-D8BC-6D8A-E2BA-D613703B9E21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Se mantiene el plan, marcando en verde el avance hasta el corte 30-Junio</a:t>
            </a:r>
          </a:p>
        </p:txBody>
      </p:sp>
    </p:spTree>
    <p:extLst>
      <p:ext uri="{BB962C8B-B14F-4D97-AF65-F5344CB8AC3E}">
        <p14:creationId xmlns:p14="http://schemas.microsoft.com/office/powerpoint/2010/main" val="290353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AC4-5F5B-38FF-88CC-2F79D5A8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12192000" cy="1325563"/>
          </a:xfrm>
        </p:spPr>
        <p:txBody>
          <a:bodyPr>
            <a:normAutofit/>
          </a:bodyPr>
          <a:lstStyle/>
          <a:p>
            <a:r>
              <a:rPr lang="es-ES" sz="3200" dirty="0"/>
              <a:t>Reforzamiento y corroboración del objetivo, indicadores y metas del PIDA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C605-92F5-9229-43B4-084627E6A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6000"/>
          </a:xfrm>
        </p:spPr>
        <p:txBody>
          <a:bodyPr/>
          <a:lstStyle/>
          <a:p>
            <a:pPr marL="457200" indent="-457200">
              <a:spcBef>
                <a:spcPts val="1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200" b="1" dirty="0"/>
              <a:t>Alcance: </a:t>
            </a:r>
            <a:r>
              <a:rPr lang="es-ES" sz="2200" dirty="0"/>
              <a:t>integrar y poner en servicio el 100% de los 23 sitios LTE Banda 41.</a:t>
            </a:r>
          </a:p>
          <a:p>
            <a:pPr marL="457200" indent="-457200">
              <a:spcBef>
                <a:spcPts val="1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200" b="1" dirty="0"/>
              <a:t>Calidad (FTR): </a:t>
            </a:r>
            <a:r>
              <a:rPr lang="es-ES" sz="2200" dirty="0"/>
              <a:t>alcanzar un First Time Right ≥ 90%, partiendo de un baseline de 82-88%.</a:t>
            </a:r>
          </a:p>
          <a:p>
            <a:pPr marL="457200" indent="-457200">
              <a:spcBef>
                <a:spcPts val="1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200" b="1" dirty="0"/>
              <a:t>Eficiencia: </a:t>
            </a:r>
            <a:r>
              <a:rPr lang="es-ES" sz="2200" dirty="0"/>
              <a:t>reducir al menos 10% las horas-hombre de re-trabajo técnico frente a proyectos equivalentes.</a:t>
            </a:r>
          </a:p>
          <a:p>
            <a:pPr marL="457200" indent="-457200">
              <a:spcBef>
                <a:spcPts val="16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200" b="1" dirty="0"/>
              <a:t>Tiempo: </a:t>
            </a:r>
            <a:r>
              <a:rPr lang="es-ES" sz="2200" dirty="0"/>
              <a:t>cumplir el ciclo de implementación de 8 semanas por sitio / clúster.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239BFF0-E372-049C-9793-73C8BBB0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46015D-BA65-28B1-B7E7-50C05BF0632D}"/>
              </a:ext>
            </a:extLst>
          </p:cNvPr>
          <p:cNvCxnSpPr>
            <a:cxnSpLocks/>
          </p:cNvCxnSpPr>
          <p:nvPr/>
        </p:nvCxnSpPr>
        <p:spPr>
          <a:xfrm>
            <a:off x="123428" y="10287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66DEC0D-CE9E-4788-11EB-5CF4E5858EB9}"/>
              </a:ext>
            </a:extLst>
          </p:cNvPr>
          <p:cNvSpPr txBox="1"/>
          <p:nvPr/>
        </p:nvSpPr>
        <p:spPr>
          <a:xfrm>
            <a:off x="0" y="6207941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dirty="0">
                <a:solidFill>
                  <a:schemeClr val="bg1"/>
                </a:solidFill>
              </a:rPr>
              <a:t>Estos 4 criterios constituyen la Definición de Éxito (</a:t>
            </a:r>
            <a:r>
              <a:rPr lang="es-ES" dirty="0" err="1">
                <a:solidFill>
                  <a:schemeClr val="bg1"/>
                </a:solidFill>
              </a:rPr>
              <a:t>Definition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Done) para el cierre formal del PIDA.</a:t>
            </a:r>
          </a:p>
        </p:txBody>
      </p:sp>
    </p:spTree>
    <p:extLst>
      <p:ext uri="{BB962C8B-B14F-4D97-AF65-F5344CB8AC3E}">
        <p14:creationId xmlns:p14="http://schemas.microsoft.com/office/powerpoint/2010/main" val="46081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BDC5-AD26-37C3-072A-7172F789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68572" cy="1325563"/>
          </a:xfrm>
        </p:spPr>
        <p:txBody>
          <a:bodyPr>
            <a:normAutofit/>
          </a:bodyPr>
          <a:lstStyle/>
          <a:p>
            <a:r>
              <a:rPr lang="es-ES" sz="4000" dirty="0"/>
              <a:t>Plan actualizado: próximos pasos hasta la entrega 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7FAF-D9A9-CE90-B673-7D683436B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4798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sz="1800" b="1" dirty="0"/>
              <a:t>Estado actual (semanas 1-4)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7 de 23 sitios (30%) aceptados: Golden Cluster (3) + inicio Despliegue Urbano E2 (4)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FTR acumulado: 96% en Golden Cluster (meta ≥90%)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Horas: -11.9% vs. lo estimado (meta ≥10%)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b="1" dirty="0"/>
              <a:t>11 sitios pendientes de integración y 16 sitios pendientes de aceptación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E458B-F33D-BDC3-F59C-CFC6C2582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798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sz="1800" b="1" dirty="0"/>
              <a:t>Plan semanas 5-8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Continuar Despliegue Urbano (E2) y avanzar a las siguientes épicas del backlog priorizado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Mantener FTR ≥90% y reducción de horas ≥10% en cada nuevo sitio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dirty="0"/>
              <a:t>Mitigar riesgos abiertos: freshness check de RF ≤3 meses (DoR); ventana de validación 72h en zonas urbano densas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600" b="1" dirty="0"/>
              <a:t>Meta de cierre: 100% de los 23 sitios LTE Banda 41 integrados y aceptados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7C003D-356D-BF68-0C8D-E47C754DB868}"/>
              </a:ext>
            </a:extLst>
          </p:cNvPr>
          <p:cNvCxnSpPr>
            <a:cxnSpLocks/>
          </p:cNvCxnSpPr>
          <p:nvPr/>
        </p:nvCxnSpPr>
        <p:spPr>
          <a:xfrm>
            <a:off x="123428" y="1028700"/>
            <a:ext cx="980588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EE729AF-2D16-FC68-15C0-87E65305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3648508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PIDA APL | Carlos Emmanuel Ramírez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38339-A90E-E0F9-05A4-1EE32E629B62}"/>
              </a:ext>
            </a:extLst>
          </p:cNvPr>
          <p:cNvSpPr txBox="1"/>
          <p:nvPr/>
        </p:nvSpPr>
        <p:spPr>
          <a:xfrm>
            <a:off x="0" y="6202419"/>
            <a:ext cx="12192000" cy="36933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dirty="0">
                <a:solidFill>
                  <a:schemeClr val="bg1"/>
                </a:solidFill>
              </a:rPr>
              <a:t>Restan 11 sitios por integrar y 16 de 23 sitios por aceptar en las semanas 5-8 para cerrar el PIDA al 100%.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64B85-68F7-17E8-0062-75ECBDF6BF4E}"/>
              </a:ext>
            </a:extLst>
          </p:cNvPr>
          <p:cNvSpPr txBox="1"/>
          <p:nvPr/>
        </p:nvSpPr>
        <p:spPr>
          <a:xfrm>
            <a:off x="9691008" y="5767057"/>
            <a:ext cx="2816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DoR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Definition of Ready</a:t>
            </a:r>
          </a:p>
        </p:txBody>
      </p:sp>
    </p:spTree>
    <p:extLst>
      <p:ext uri="{BB962C8B-B14F-4D97-AF65-F5344CB8AC3E}">
        <p14:creationId xmlns:p14="http://schemas.microsoft.com/office/powerpoint/2010/main" val="203688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7BABEE-83B4-B242-95B8-4BB7F4131C6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607f06f-db22-4beb-a499-663e63741fa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4179</TotalTime>
  <Words>6552</Words>
  <Application>Microsoft Macintosh PowerPoint</Application>
  <PresentationFormat>Widescreen</PresentationFormat>
  <Paragraphs>3088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Aptos Narrow</vt:lpstr>
      <vt:lpstr>Arial</vt:lpstr>
      <vt:lpstr>Calibri</vt:lpstr>
      <vt:lpstr>Century Gothic</vt:lpstr>
      <vt:lpstr>Office Theme</vt:lpstr>
      <vt:lpstr>Certificación – Agile Project Leader</vt:lpstr>
      <vt:lpstr>Backlog priorizado</vt:lpstr>
      <vt:lpstr>Definition of Done y Acuerdo de Equipo</vt:lpstr>
      <vt:lpstr>Compromiso de Stakeholders</vt:lpstr>
      <vt:lpstr>Matriz de Compromiso de los Stakeholders</vt:lpstr>
      <vt:lpstr>Detalle de avance de integración y aceptación</vt:lpstr>
      <vt:lpstr>Burndown chart de aceptación</vt:lpstr>
      <vt:lpstr>Tablero Kanban</vt:lpstr>
      <vt:lpstr>Log de impedimentos y bloqueos – acumulado w4</vt:lpstr>
      <vt:lpstr>Registro de Riesgos </vt:lpstr>
      <vt:lpstr>First Time Right - FTR</vt:lpstr>
      <vt:lpstr>Re-trabajo Técnico</vt:lpstr>
      <vt:lpstr>Retrospectivas – Golden cluster</vt:lpstr>
      <vt:lpstr>Avance del plan</vt:lpstr>
      <vt:lpstr>Reforzamiento y corroboración del objetivo, indicadores y metas del PIDA</vt:lpstr>
      <vt:lpstr>Plan actualizado: próximos pasos hasta la entrega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Ramirez</dc:creator>
  <cp:keywords/>
  <dc:description/>
  <cp:lastModifiedBy>Carlos Ramirez</cp:lastModifiedBy>
  <cp:revision>84</cp:revision>
  <dcterms:created xsi:type="dcterms:W3CDTF">2026-06-29T05:30:54Z</dcterms:created>
  <dcterms:modified xsi:type="dcterms:W3CDTF">2026-07-02T03:10:52Z</dcterms:modified>
  <cp:category/>
</cp:coreProperties>
</file>